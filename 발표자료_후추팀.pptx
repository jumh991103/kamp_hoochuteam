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Pretendard" panose="02000503000000020004" pitchFamily="50" charset="-127"/>
      <p:regular r:id="rId29"/>
      <p:bold r:id="rId30"/>
    </p:embeddedFont>
    <p:embeddedFont>
      <p:font typeface="Pretendard Light" panose="02000403000000020004" pitchFamily="50" charset="-127"/>
      <p:regular r:id="rId31"/>
    </p:embeddedFont>
    <p:embeddedFont>
      <p:font typeface="Pretendard Medium" panose="02000603000000020004" pitchFamily="50" charset="-127"/>
      <p:regular r:id="rId32"/>
    </p:embeddedFont>
    <p:embeddedFont>
      <p:font typeface="Pretendard SemiBold" panose="02000703000000020004" pitchFamily="50" charset="-127"/>
      <p:bold r:id="rId33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7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horzBarState="maximized">
    <p:restoredLeft sz="12579"/>
    <p:restoredTop sz="89841"/>
  </p:normalViewPr>
  <p:slideViewPr>
    <p:cSldViewPr snapToGrid="0" snapToObjects="1">
      <p:cViewPr varScale="1">
        <p:scale>
          <a:sx n="73" d="100"/>
          <a:sy n="73" d="100"/>
        </p:scale>
        <p:origin x="690" y="84"/>
      </p:cViewPr>
      <p:guideLst>
        <p:guide orient="horz" pos="3239"/>
        <p:guide pos="575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ko-KR" altLang="en-US"/>
              <a:t>CN7/src/train_cn7.py: 반복 StratifiedGroupKFold. RG3/src/evaluate_rg3.py: Rolling Temporal 및 Final Holdout.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ko-KR" altLang="en-US"/>
              <a:t>CN7/src/config_cn7.py: SENSOR_COLS 23개 + Side_RH 1개 + ROLL_MEAN_COLS 23개 = 47개.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ko-KR" altLang="en-US"/>
              <a:t>CN7/outputs/cn7_metrics.csv PerSeed_Mean=0.8164355928439987, PerSeed_Std=0.018095084561104965. OOF는 CV 분할 seed를 변경하고 모델 random_state=42를 고정. 최종 전체학습 모델은 5개 model seed 사용.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ko-KR" altLang="en-US"/>
              <a:t>CN7/outputs/cn7_metrics.csv: Risk_Only TP14 FP7 FN3 Precision66.67% Recall82.35% Flag21(1.7341%). Risk_Plus_Uncertainty TP15 FP10 FN2 Precision60% Recall88.24% Flag25(2.0644%). 반복 seed 평균±표준편차 0.8164±0.0181과 Ensemble_OOF PR_AUC0.850378은 다른 집계. 내부 OOF 정책 시뮬레이션이며 미래 성능 보장이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ko-KR" altLang="en-US"/>
              <a:t>보고서 제3장: SHAP 비중59.85/29.63/10.52%. Full0.8157, Side제외0.6509, Side단독0.0187은 별도 Ablation 탐색실험이며 최종 반복 OOF0.8164와 다른 실행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ko-KR" altLang="en-US"/>
              <a:t>근거: 소스코드_후추팀.zip 및 [후추팀] 제조데이터분석 경진대회 보고서-사출성형.hwpx</a:t>
            </a:r>
          </a:p>
          <a:p>
            <a:pPr>
              <a:buNone/>
              <a:defRPr/>
            </a:pPr>
            <a:r>
              <a:rPr lang="ko-KR" altLang="en-US"/>
              <a:t>보고서 제3장: Future E4 제품행628건·불량10, PR-AUC0.1156; E5 제품행926건·불량1, PR-AUC0.0147. Recall0%. Cycle 단위 OOD 평가와 구분.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ko-KR" altLang="en-US"/>
              <a:t>CN7/src/config_cn7.py, src/ood_cn7.py: 과거 정상 Cycle의 시간순80% fit/20% calibration, 설명분산95%, calibration 정상score99백분위. 실패분석 후 추가한 보완실험.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ko-KR" altLang="en-US"/>
              <a:t>CN7/outputs/cn7_temporal_ood_cycle_results.csv: E4 314Cycle TP4 FP0 FN1 Recall80% Precision100% F1 0.888889, Flag4(1.2739%). E5 463Cycle TP0 FP6 FN1. 사후 OOD 보완실험.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ko-KR" altLang="en-US"/>
              <a:t>RG3/src/feature_engineering_rg3.py: Session 내 x.shift(1).ewm(span=5,adjust=False).mean()에 대한 현재값의 절대편차. 자동 Drift Detector 아님. 반복CV 탐색0.1121→0.2047은 보고서 탐색결과; 미래Session3 공식0.3135865477.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en-US" altLang="ko-KR"/>
              <a:t>RG3/outputs/rg3_temporal_validation.csv Rolling PR-AUC0.3135865477/0.0464891731/0.0960937093. rg3_metrics.csv Final_Holdout_S1_3_to_S4_5 PR-AUC0.0414607261, ROC-AUC0.4254166667, prevalence0.04, PR_Lift1.0365181525.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en-US" altLang="ko-KR"/>
              <a:t>RG3/outputs/rg3_oof_prediction.csv Fold1(Session3):197건·불량10, 불량순위2~180. Recall100%에180/197=91.3706% 검사 필요. 참고: Final Holdout250건의 불량순위12~234, 전량포착234/250=93.6%. Robust 후보는 보고서 별도 탐색실험.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근거: 소스코드_후추팀.zip 및 [후추팀] 제조데이터분석 경진대회 보고서-사출성형.hwpx</a:t>
            </a:r>
          </a:p>
          <a:p>
            <a:pPr lvl="0">
              <a:defRPr/>
            </a:pPr>
            <a:r>
              <a:rPr lang="en-US" altLang="ko-KR"/>
              <a:t>RG3/outputs/rg3_cycle_oot_metrics.csv: 35Cycle·불량7, prevalence0.2, PR-AUC0.4124280481, ROC-AUC0.6836734694, PR_Lift2.0621402407. rg3_cycle_inspection_tradeoff.csv:20%7Cycle TP2 Recall28.57%;40%14Cycle TP5 Recall71.43%;50%18Cycle TP5 Recall71.43%. 학습2020-10-21~10-23 586Cycle(불량25), 평가11/04. 실패 및 Side 변화 확인 후 사후 구조진단이며 RH Final Holdout을 대체하지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근거: 소스코드_후추팀.zip 및 [후추팀] 제조데이터분석 경진대회 보고서-사출성형.hwpx</a:t>
            </a:r>
          </a:p>
          <a:p>
            <a:pPr>
              <a:buNone/>
              <a:defRPr/>
            </a:pPr>
            <a:r>
              <a:rPr lang="en-US" altLang="ko-KR"/>
              <a:t>CN7/outputs/cn7_metrics.csv 및 cn7_temporal_ood_cycle_results.csv; RG3/outputs/rg3_metrics.csv. FIXES_AND_LIMITATIONS.md: 독립 Drift Detector 미구현, 운영 제안. 내부 OOF와 미래·사후 결과 구분; 기존 품질검사 유지.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buNone/>
              <a:defRPr/>
            </a:pPr>
            <a:r>
              <a:rPr lang="ko-KR" alt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  <a:defRPr/>
            </a:pPr>
            <a:r>
              <a:rPr lang="ko-KR" altLang="en-US"/>
              <a:t>Click to edit Master text styles</a:t>
            </a:r>
          </a:p>
          <a:p>
            <a:pPr lvl="1">
              <a:buNone/>
              <a:defRPr/>
            </a:pPr>
            <a:r>
              <a:rPr lang="ko-KR" altLang="en-US"/>
              <a:t>Second level</a:t>
            </a:r>
          </a:p>
          <a:p>
            <a:pPr lvl="2">
              <a:buNone/>
              <a:defRPr/>
            </a:pPr>
            <a:r>
              <a:rPr lang="ko-KR" altLang="en-US"/>
              <a:t>Third level</a:t>
            </a:r>
          </a:p>
          <a:p>
            <a:pPr lvl="3">
              <a:buNone/>
              <a:defRPr/>
            </a:pPr>
            <a:r>
              <a:rPr lang="ko-KR" altLang="en-US"/>
              <a:t>Fourth level</a:t>
            </a:r>
          </a:p>
          <a:p>
            <a:pPr lvl="4">
              <a:buNone/>
              <a:defRPr/>
            </a:pPr>
            <a:r>
              <a:rPr lang="ko-KR" alt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  <a:defRPr/>
            </a:pPr>
            <a:r>
              <a:rPr lang="ko-KR" altLang="en-US"/>
              <a:t>Click to edit Master text styles</a:t>
            </a:r>
          </a:p>
          <a:p>
            <a:pPr lvl="1">
              <a:buNone/>
              <a:defRPr/>
            </a:pPr>
            <a:r>
              <a:rPr lang="ko-KR" altLang="en-US"/>
              <a:t>Second level</a:t>
            </a:r>
          </a:p>
          <a:p>
            <a:pPr lvl="2">
              <a:buNone/>
              <a:defRPr/>
            </a:pPr>
            <a:r>
              <a:rPr lang="ko-KR" altLang="en-US"/>
              <a:t>Third level</a:t>
            </a:r>
          </a:p>
          <a:p>
            <a:pPr lvl="3">
              <a:buNone/>
              <a:defRPr/>
            </a:pPr>
            <a:r>
              <a:rPr lang="ko-KR" altLang="en-US"/>
              <a:t>Fourth level</a:t>
            </a:r>
          </a:p>
          <a:p>
            <a:pPr lvl="4">
              <a:buNone/>
              <a:defRPr/>
            </a:pPr>
            <a:r>
              <a:rPr lang="ko-KR" alt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  <a:defRPr/>
            </a:pPr>
            <a:fld id="{1D8BD707-D9CF-40AE-B4C6-C98DA3205C09}" type="datetime1">
              <a:rPr lang="ko-KR" altLang="en-US"/>
              <a:pPr lvl="0">
                <a:buNone/>
                <a:defRPr/>
              </a:pPr>
              <a:t>2026-10-08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  <a:defRPr/>
            </a:pPr>
            <a:fld id="{B6F15528-21DE-4FAA-801E-634DDDAF4B2B}" type="slidenum">
              <a:rPr lang="ko-KR" altLang="en-US"/>
              <a:pPr lvl="0"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  <a:defRPr/>
            </a:pPr>
            <a:fld id="{1D8BD707-D9CF-40AE-B4C6-C98DA3205C09}" type="datetime1">
              <a:rPr lang="ko-KR" altLang="en-US"/>
              <a:pPr lvl="0">
                <a:buNone/>
                <a:defRPr/>
              </a:pPr>
              <a:t>2026-10-08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  <a:defRPr/>
            </a:pPr>
            <a:fld id="{B6F15528-21DE-4FAA-801E-634DDDAF4B2B}" type="slidenum">
              <a:rPr lang="ko-KR" altLang="en-US"/>
              <a:pPr lvl="0">
                <a:buNone/>
                <a:defRPr/>
              </a:pPr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blipFill rotWithShape="1">
          <a:blip r:embed="rId11">
            <a:alphaModFix/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buNone/>
              <a:defRPr/>
            </a:pPr>
            <a:r>
              <a:rPr lang="ko-KR" alt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  <a:defRPr/>
            </a:pPr>
            <a:r>
              <a:rPr lang="ko-KR" altLang="en-US"/>
              <a:t>Click to edit Master text styles</a:t>
            </a:r>
          </a:p>
          <a:p>
            <a:pPr lvl="1">
              <a:buNone/>
              <a:defRPr/>
            </a:pPr>
            <a:r>
              <a:rPr lang="ko-KR" altLang="en-US"/>
              <a:t>Second level</a:t>
            </a:r>
          </a:p>
          <a:p>
            <a:pPr lvl="2">
              <a:buNone/>
              <a:defRPr/>
            </a:pPr>
            <a:r>
              <a:rPr lang="ko-KR" altLang="en-US"/>
              <a:t>Third level</a:t>
            </a:r>
          </a:p>
          <a:p>
            <a:pPr lvl="3">
              <a:buNone/>
              <a:defRPr/>
            </a:pPr>
            <a:r>
              <a:rPr lang="ko-KR" altLang="en-US"/>
              <a:t>Fourth level</a:t>
            </a:r>
          </a:p>
          <a:p>
            <a:pPr lvl="4">
              <a:buNone/>
              <a:defRPr/>
            </a:pPr>
            <a:r>
              <a:rPr lang="ko-KR" alt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buNone/>
              <a:defRPr/>
            </a:pPr>
            <a:fld id="{1D8BD707-D9CF-40AE-B4C6-C98DA3205C09}" type="datetime1">
              <a:rPr lang="ko-KR" altLang="en-US"/>
              <a:pPr lvl="0">
                <a:buNone/>
                <a:defRPr/>
              </a:pPr>
              <a:t>2026-10-08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buNone/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buNone/>
              <a:defRPr/>
            </a:pPr>
            <a:fld id="{B6F15528-21DE-4FAA-801E-634DDDAF4B2B}" type="slidenum">
              <a:rPr lang="ko-KR" altLang="en-US"/>
              <a:pPr lvl="0">
                <a:buNone/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transition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>
            <a:spLocks noGrp="1"/>
          </p:cNvSpPr>
          <p:nvPr/>
        </p:nvSpPr>
        <p:spPr>
          <a:xfrm>
            <a:off x="2907446" y="3583382"/>
            <a:ext cx="12473108" cy="312023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42"/>
              </a:lnSpc>
              <a:buNone/>
              <a:defRPr/>
            </a:pPr>
            <a:r>
              <a:rPr sz="8000" b="1" spc="-108">
                <a:solidFill>
                  <a:srgbClr val="282828"/>
                </a:solidFill>
                <a:latin typeface="Pretendard SemiBold"/>
                <a:ea typeface="Pretendard SemiBold"/>
                <a:cs typeface="Pretendard SemiBold"/>
              </a:rPr>
              <a:t>사출성형 공정 이상 탐지와</a:t>
            </a:r>
          </a:p>
          <a:p>
            <a:pPr algn="ctr">
              <a:lnSpc>
                <a:spcPts val="12342"/>
              </a:lnSpc>
              <a:buNone/>
              <a:defRPr/>
            </a:pPr>
            <a:r>
              <a:rPr sz="8000" b="1" spc="-108">
                <a:solidFill>
                  <a:srgbClr val="282828"/>
                </a:solidFill>
                <a:latin typeface="Pretendard SemiBold"/>
                <a:ea typeface="Pretendard SemiBold"/>
                <a:cs typeface="Pretendard SemiBold"/>
              </a:rPr>
              <a:t>품질위험 예측</a:t>
            </a:r>
          </a:p>
        </p:txBody>
      </p:sp>
      <p:sp>
        <p:nvSpPr>
          <p:cNvPr id="8" name="TextBox 8"/>
          <p:cNvSpPr>
            <a:spLocks noGrp="1"/>
          </p:cNvSpPr>
          <p:nvPr/>
        </p:nvSpPr>
        <p:spPr>
          <a:xfrm>
            <a:off x="6038998" y="2721042"/>
            <a:ext cx="6210004" cy="40315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3206"/>
              </a:lnSpc>
              <a:spcBef>
                <a:spcPct val="0"/>
              </a:spcBef>
              <a:buNone/>
              <a:defRPr/>
            </a:pPr>
            <a:r>
              <a:rPr sz="2290" spc="338">
                <a:solidFill>
                  <a:srgbClr val="282828"/>
                </a:solidFill>
                <a:latin typeface="Pretendard Light"/>
                <a:ea typeface="Pretendard Light"/>
                <a:cs typeface="Pretendard Light"/>
              </a:rPr>
              <a:t>제6회 K-인공지능 제조데이터 분석 경진대회</a:t>
            </a: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1943662" y="8324604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10" name="TextBox 10"/>
          <p:cNvSpPr>
            <a:spLocks noGrp="1"/>
          </p:cNvSpPr>
          <p:nvPr/>
        </p:nvSpPr>
        <p:spPr>
          <a:xfrm>
            <a:off x="1943662" y="8713139"/>
            <a:ext cx="1991481" cy="38323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  <a:buNone/>
              <a:defRPr/>
            </a:pPr>
            <a:r>
              <a:rPr sz="2199">
                <a:solidFill>
                  <a:srgbClr val="282828"/>
                </a:solidFill>
                <a:latin typeface="Pretendard Light"/>
                <a:ea typeface="Pretendard Light"/>
                <a:cs typeface="Pretendard Light"/>
              </a:rPr>
              <a:t>팀명: 후추</a:t>
            </a:r>
          </a:p>
        </p:txBody>
      </p:sp>
      <p:sp>
        <p:nvSpPr>
          <p:cNvPr id="11" name="TextBox 11"/>
          <p:cNvSpPr>
            <a:spLocks noGrp="1"/>
          </p:cNvSpPr>
          <p:nvPr/>
        </p:nvSpPr>
        <p:spPr>
          <a:xfrm>
            <a:off x="13106400" y="8713139"/>
            <a:ext cx="3237938" cy="38323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r">
              <a:lnSpc>
                <a:spcPts val="3079"/>
              </a:lnSpc>
              <a:spcBef>
                <a:spcPct val="0"/>
              </a:spcBef>
              <a:buNone/>
              <a:defRPr/>
            </a:pPr>
            <a:r>
              <a:rPr sz="2199">
                <a:solidFill>
                  <a:srgbClr val="282828"/>
                </a:solidFill>
                <a:latin typeface="Pretendard Light"/>
                <a:ea typeface="Pretendard Light"/>
                <a:cs typeface="Pretendard Light"/>
              </a:rPr>
              <a:t>박소희·주민혁·안효원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목차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04" name="AutoShape 104"/>
          <p:cNvSpPr>
            <a:spLocks noGrp="1"/>
          </p:cNvSpPr>
          <p:nvPr/>
        </p:nvSpPr>
        <p:spPr>
          <a:xfrm>
            <a:off x="2743200" y="4213860"/>
            <a:ext cx="1273538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09" name="AutoShape 109"/>
          <p:cNvSpPr>
            <a:spLocks noGrp="1"/>
          </p:cNvSpPr>
          <p:nvPr/>
        </p:nvSpPr>
        <p:spPr>
          <a:xfrm>
            <a:off x="2743200" y="5410200"/>
            <a:ext cx="1273538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4" name="AutoShape 114"/>
          <p:cNvSpPr>
            <a:spLocks noGrp="1"/>
          </p:cNvSpPr>
          <p:nvPr/>
        </p:nvSpPr>
        <p:spPr>
          <a:xfrm>
            <a:off x="2743200" y="6606540"/>
            <a:ext cx="1273538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9" name="AutoShape 119"/>
          <p:cNvSpPr>
            <a:spLocks noGrp="1"/>
          </p:cNvSpPr>
          <p:nvPr/>
        </p:nvSpPr>
        <p:spPr>
          <a:xfrm>
            <a:off x="2743200" y="7810500"/>
            <a:ext cx="1273538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01" name="TextBox 101"/>
          <p:cNvSpPr>
            <a:spLocks noGrp="1"/>
          </p:cNvSpPr>
          <p:nvPr/>
        </p:nvSpPr>
        <p:spPr>
          <a:xfrm>
            <a:off x="3762571" y="3393862"/>
            <a:ext cx="442567" cy="44365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54"/>
              </a:lnSpc>
              <a:buNone/>
              <a:defRPr/>
            </a:pPr>
            <a:r>
              <a:rPr sz="25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id="103" name="Freeform 103"/>
          <p:cNvSpPr>
            <a:spLocks noGrp="1"/>
          </p:cNvSpPr>
          <p:nvPr/>
        </p:nvSpPr>
        <p:spPr>
          <a:xfrm flipH="1">
            <a:off x="14873139" y="3468636"/>
            <a:ext cx="177200" cy="294108"/>
          </a:xfrm>
          <a:custGeom>
            <a:avLst/>
            <a:gdLst/>
            <a:ahLst/>
            <a:cxnLst/>
            <a:rect l="l" t="t" r="r" b="b"/>
            <a:pathLst>
              <a:path w="177200" h="294108">
                <a:moveTo>
                  <a:pt x="177200" y="0"/>
                </a:moveTo>
                <a:lnTo>
                  <a:pt x="0" y="0"/>
                </a:lnTo>
                <a:lnTo>
                  <a:pt x="0" y="294108"/>
                </a:lnTo>
                <a:lnTo>
                  <a:pt x="177200" y="294108"/>
                </a:lnTo>
                <a:lnTo>
                  <a:pt x="17720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9" name="직사각형 128"/>
          <p:cNvSpPr>
            <a:spLocks noGrp="1"/>
          </p:cNvSpPr>
          <p:nvPr/>
        </p:nvSpPr>
        <p:spPr>
          <a:xfrm>
            <a:off x="5681893" y="3383280"/>
            <a:ext cx="2910840" cy="4648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500">
                <a:latin typeface="Pretendard SemiBold"/>
                <a:ea typeface="Pretendard SemiBold"/>
                <a:cs typeface="Pretendard SemiBold"/>
              </a:rPr>
              <a:t>문제 정의와 분석 목표</a:t>
            </a:r>
          </a:p>
        </p:txBody>
      </p:sp>
      <p:sp>
        <p:nvSpPr>
          <p:cNvPr id="133" name="TextBox 101"/>
          <p:cNvSpPr>
            <a:spLocks noGrp="1"/>
          </p:cNvSpPr>
          <p:nvPr/>
        </p:nvSpPr>
        <p:spPr>
          <a:xfrm>
            <a:off x="3762571" y="4590202"/>
            <a:ext cx="442568" cy="4447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54"/>
              </a:lnSpc>
              <a:buNone/>
              <a:defRPr/>
            </a:pPr>
            <a:r>
              <a:rPr sz="25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id="134" name="Freeform 103"/>
          <p:cNvSpPr>
            <a:spLocks noGrp="1"/>
          </p:cNvSpPr>
          <p:nvPr/>
        </p:nvSpPr>
        <p:spPr>
          <a:xfrm flipH="1">
            <a:off x="14873139" y="4664976"/>
            <a:ext cx="177200" cy="294108"/>
          </a:xfrm>
          <a:custGeom>
            <a:avLst/>
            <a:gdLst/>
            <a:ahLst/>
            <a:cxnLst/>
            <a:rect l="l" t="t" r="r" b="b"/>
            <a:pathLst>
              <a:path w="177200" h="294108">
                <a:moveTo>
                  <a:pt x="177200" y="0"/>
                </a:moveTo>
                <a:lnTo>
                  <a:pt x="0" y="0"/>
                </a:lnTo>
                <a:lnTo>
                  <a:pt x="0" y="294108"/>
                </a:lnTo>
                <a:lnTo>
                  <a:pt x="177200" y="294108"/>
                </a:lnTo>
                <a:lnTo>
                  <a:pt x="17720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5" name="직사각형 134"/>
          <p:cNvSpPr>
            <a:spLocks noGrp="1"/>
          </p:cNvSpPr>
          <p:nvPr/>
        </p:nvSpPr>
        <p:spPr>
          <a:xfrm>
            <a:off x="5681893" y="4579620"/>
            <a:ext cx="2091690" cy="4648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500">
                <a:latin typeface="Pretendard SemiBold"/>
                <a:ea typeface="Pretendard SemiBold"/>
                <a:cs typeface="Pretendard SemiBold"/>
              </a:rPr>
              <a:t>CN7 모델 개발</a:t>
            </a:r>
          </a:p>
        </p:txBody>
      </p:sp>
      <p:sp>
        <p:nvSpPr>
          <p:cNvPr id="138" name="TextBox 101"/>
          <p:cNvSpPr>
            <a:spLocks noGrp="1"/>
          </p:cNvSpPr>
          <p:nvPr/>
        </p:nvSpPr>
        <p:spPr>
          <a:xfrm>
            <a:off x="3762571" y="5786542"/>
            <a:ext cx="442567" cy="44661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54"/>
              </a:lnSpc>
              <a:buNone/>
              <a:defRPr/>
            </a:pPr>
            <a:r>
              <a:rPr sz="25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sp>
        <p:nvSpPr>
          <p:cNvPr id="139" name="Freeform 103"/>
          <p:cNvSpPr>
            <a:spLocks noGrp="1"/>
          </p:cNvSpPr>
          <p:nvPr/>
        </p:nvSpPr>
        <p:spPr>
          <a:xfrm flipH="1">
            <a:off x="14873139" y="5861316"/>
            <a:ext cx="177200" cy="294108"/>
          </a:xfrm>
          <a:custGeom>
            <a:avLst/>
            <a:gdLst/>
            <a:ahLst/>
            <a:cxnLst/>
            <a:rect l="l" t="t" r="r" b="b"/>
            <a:pathLst>
              <a:path w="177200" h="294108">
                <a:moveTo>
                  <a:pt x="177200" y="0"/>
                </a:moveTo>
                <a:lnTo>
                  <a:pt x="0" y="0"/>
                </a:lnTo>
                <a:lnTo>
                  <a:pt x="0" y="294108"/>
                </a:lnTo>
                <a:lnTo>
                  <a:pt x="177200" y="294108"/>
                </a:lnTo>
                <a:lnTo>
                  <a:pt x="17720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40" name="직사각형 139"/>
          <p:cNvSpPr>
            <a:spLocks noGrp="1"/>
          </p:cNvSpPr>
          <p:nvPr/>
        </p:nvSpPr>
        <p:spPr>
          <a:xfrm>
            <a:off x="5681893" y="5775960"/>
            <a:ext cx="3476969" cy="4648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500">
                <a:latin typeface="Pretendard SemiBold"/>
                <a:ea typeface="Pretendard SemiBold"/>
                <a:cs typeface="Pretendard SemiBold"/>
              </a:rPr>
              <a:t>CN7 오류분석과 안전장치</a:t>
            </a:r>
          </a:p>
        </p:txBody>
      </p:sp>
      <p:sp>
        <p:nvSpPr>
          <p:cNvPr id="143" name="TextBox 101"/>
          <p:cNvSpPr>
            <a:spLocks noGrp="1"/>
          </p:cNvSpPr>
          <p:nvPr/>
        </p:nvSpPr>
        <p:spPr>
          <a:xfrm>
            <a:off x="3762571" y="6982882"/>
            <a:ext cx="442567" cy="44661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54"/>
              </a:lnSpc>
              <a:buNone/>
              <a:defRPr/>
            </a:pPr>
            <a:r>
              <a:rPr sz="25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sp>
        <p:nvSpPr>
          <p:cNvPr id="144" name="Freeform 103"/>
          <p:cNvSpPr>
            <a:spLocks noGrp="1"/>
          </p:cNvSpPr>
          <p:nvPr/>
        </p:nvSpPr>
        <p:spPr>
          <a:xfrm flipH="1">
            <a:off x="14873139" y="7057656"/>
            <a:ext cx="177200" cy="294108"/>
          </a:xfrm>
          <a:custGeom>
            <a:avLst/>
            <a:gdLst/>
            <a:ahLst/>
            <a:cxnLst/>
            <a:rect l="l" t="t" r="r" b="b"/>
            <a:pathLst>
              <a:path w="177200" h="294108">
                <a:moveTo>
                  <a:pt x="177200" y="0"/>
                </a:moveTo>
                <a:lnTo>
                  <a:pt x="0" y="0"/>
                </a:lnTo>
                <a:lnTo>
                  <a:pt x="0" y="294108"/>
                </a:lnTo>
                <a:lnTo>
                  <a:pt x="177200" y="294108"/>
                </a:lnTo>
                <a:lnTo>
                  <a:pt x="17720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45" name="직사각형 144"/>
          <p:cNvSpPr>
            <a:spLocks noGrp="1"/>
          </p:cNvSpPr>
          <p:nvPr/>
        </p:nvSpPr>
        <p:spPr>
          <a:xfrm>
            <a:off x="5681893" y="6972300"/>
            <a:ext cx="2991194" cy="472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500">
                <a:latin typeface="Pretendard SemiBold"/>
                <a:ea typeface="Pretendard SemiBold"/>
                <a:cs typeface="Pretendard SemiBold"/>
              </a:rPr>
              <a:t>RG3 모델 개발과 한계</a:t>
            </a:r>
          </a:p>
        </p:txBody>
      </p:sp>
      <p:sp>
        <p:nvSpPr>
          <p:cNvPr id="148" name="TextBox 101"/>
          <p:cNvSpPr>
            <a:spLocks noGrp="1"/>
          </p:cNvSpPr>
          <p:nvPr/>
        </p:nvSpPr>
        <p:spPr>
          <a:xfrm>
            <a:off x="3762570" y="8186842"/>
            <a:ext cx="442567" cy="44661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54"/>
              </a:lnSpc>
              <a:buNone/>
              <a:defRPr/>
            </a:pPr>
            <a:r>
              <a:rPr sz="25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sp>
        <p:nvSpPr>
          <p:cNvPr id="149" name="Freeform 103"/>
          <p:cNvSpPr>
            <a:spLocks noGrp="1"/>
          </p:cNvSpPr>
          <p:nvPr/>
        </p:nvSpPr>
        <p:spPr>
          <a:xfrm flipH="1">
            <a:off x="14873138" y="8261616"/>
            <a:ext cx="177200" cy="294108"/>
          </a:xfrm>
          <a:custGeom>
            <a:avLst/>
            <a:gdLst/>
            <a:ahLst/>
            <a:cxnLst/>
            <a:rect l="l" t="t" r="r" b="b"/>
            <a:pathLst>
              <a:path w="177200" h="294108">
                <a:moveTo>
                  <a:pt x="177200" y="0"/>
                </a:moveTo>
                <a:lnTo>
                  <a:pt x="0" y="0"/>
                </a:lnTo>
                <a:lnTo>
                  <a:pt x="0" y="294108"/>
                </a:lnTo>
                <a:lnTo>
                  <a:pt x="177200" y="294108"/>
                </a:lnTo>
                <a:lnTo>
                  <a:pt x="17720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0" name="직사각형 149"/>
          <p:cNvSpPr>
            <a:spLocks noGrp="1"/>
          </p:cNvSpPr>
          <p:nvPr/>
        </p:nvSpPr>
        <p:spPr>
          <a:xfrm>
            <a:off x="5681892" y="8176260"/>
            <a:ext cx="2362923" cy="472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500">
                <a:latin typeface="Pretendard SemiBold"/>
                <a:ea typeface="Pretendard SemiBold"/>
                <a:cs typeface="Pretendard SemiBold"/>
              </a:rPr>
              <a:t>현장 적용 및 결론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문제 정의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9" name="Freeform 9"/>
          <p:cNvSpPr>
            <a:spLocks noGrp="1"/>
          </p:cNvSpPr>
          <p:nvPr/>
        </p:nvSpPr>
        <p:spPr>
          <a:xfrm>
            <a:off x="1943662" y="7156851"/>
            <a:ext cx="14400676" cy="1616165"/>
          </a:xfrm>
          <a:custGeom>
            <a:avLst/>
            <a:gdLst/>
            <a:ahLst/>
            <a:cxnLst/>
            <a:rect l="l" t="t" r="r" b="b"/>
            <a:pathLst>
              <a:path w="2645347" h="296883">
                <a:moveTo>
                  <a:pt x="9677" y="0"/>
                </a:moveTo>
                <a:lnTo>
                  <a:pt x="2635670" y="0"/>
                </a:lnTo>
                <a:cubicBezTo>
                  <a:pt x="2638236" y="0"/>
                  <a:pt x="2640698" y="1020"/>
                  <a:pt x="2642513" y="2834"/>
                </a:cubicBezTo>
                <a:cubicBezTo>
                  <a:pt x="2644327" y="4649"/>
                  <a:pt x="2645347" y="7110"/>
                  <a:pt x="2645347" y="9677"/>
                </a:cubicBezTo>
                <a:lnTo>
                  <a:pt x="2645347" y="287206"/>
                </a:lnTo>
                <a:cubicBezTo>
                  <a:pt x="2645347" y="292551"/>
                  <a:pt x="2641014" y="296883"/>
                  <a:pt x="2635670" y="296883"/>
                </a:cubicBezTo>
                <a:lnTo>
                  <a:pt x="9677" y="296883"/>
                </a:lnTo>
                <a:cubicBezTo>
                  <a:pt x="7110" y="296883"/>
                  <a:pt x="4649" y="295863"/>
                  <a:pt x="2834" y="294049"/>
                </a:cubicBezTo>
                <a:cubicBezTo>
                  <a:pt x="1020" y="292234"/>
                  <a:pt x="0" y="289773"/>
                  <a:pt x="0" y="287206"/>
                </a:cubicBezTo>
                <a:lnTo>
                  <a:pt x="0" y="9677"/>
                </a:lnTo>
                <a:cubicBezTo>
                  <a:pt x="0" y="4333"/>
                  <a:pt x="4333" y="0"/>
                  <a:pt x="9677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3124200" y="7700187"/>
            <a:ext cx="838199" cy="5294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73"/>
              </a:lnSpc>
              <a:spcBef>
                <a:spcPct val="0"/>
              </a:spcBef>
              <a:buNone/>
              <a:defRPr/>
            </a:pPr>
            <a:r>
              <a:rPr sz="2981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핵심</a:t>
            </a:r>
          </a:p>
        </p:txBody>
      </p:sp>
      <p:sp>
        <p:nvSpPr>
          <p:cNvPr id="24" name="Freeform 24"/>
          <p:cNvSpPr>
            <a:spLocks noGrp="1"/>
          </p:cNvSpPr>
          <p:nvPr/>
        </p:nvSpPr>
        <p:spPr>
          <a:xfrm>
            <a:off x="2562730" y="7755064"/>
            <a:ext cx="378528" cy="419739"/>
          </a:xfrm>
          <a:custGeom>
            <a:avLst/>
            <a:gdLst/>
            <a:ahLst/>
            <a:cxnLst/>
            <a:rect l="l" t="t" r="r" b="b"/>
            <a:pathLst>
              <a:path w="378528" h="419739">
                <a:moveTo>
                  <a:pt x="0" y="0"/>
                </a:moveTo>
                <a:lnTo>
                  <a:pt x="378529" y="0"/>
                </a:lnTo>
                <a:lnTo>
                  <a:pt x="378529" y="419739"/>
                </a:lnTo>
                <a:lnTo>
                  <a:pt x="0" y="419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4724398" y="7760146"/>
            <a:ext cx="10287002" cy="40277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just">
              <a:lnSpc>
                <a:spcPts val="3161"/>
              </a:lnSpc>
              <a:buNone/>
              <a:defRPr/>
            </a:pPr>
            <a:r>
              <a:rPr sz="2200" u="none" strike="noStrike">
                <a:solidFill>
                  <a:srgbClr val="282828"/>
                </a:solidFill>
                <a:latin typeface="Pretendard"/>
                <a:ea typeface="Pretendard"/>
                <a:cs typeface="Pretendard"/>
              </a:rPr>
              <a:t>두 데이터 모두 Cycle·Side·시간구조를 가진 제조 시계열 데이터이며, 검증 설계가 성능을 좌우</a:t>
            </a:r>
          </a:p>
        </p:txBody>
      </p:sp>
      <p:sp>
        <p:nvSpPr>
          <p:cNvPr id="26" name="AutoShape 26"/>
          <p:cNvSpPr>
            <a:spLocks noGrp="1"/>
          </p:cNvSpPr>
          <p:nvPr/>
        </p:nvSpPr>
        <p:spPr>
          <a:xfrm>
            <a:off x="4267200" y="7706341"/>
            <a:ext cx="0" cy="517185"/>
          </a:xfrm>
          <a:prstGeom prst="line">
            <a:avLst/>
          </a:prstGeom>
          <a:ln w="28575" cap="flat">
            <a:solidFill>
              <a:srgbClr val="282828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AutoShape 27"/>
          <p:cNvSpPr>
            <a:spLocks noGrp="1"/>
          </p:cNvSpPr>
          <p:nvPr/>
        </p:nvSpPr>
        <p:spPr>
          <a:xfrm>
            <a:off x="9144000" y="3727107"/>
            <a:ext cx="0" cy="2661335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2" name="Freeform 13"/>
          <p:cNvSpPr>
            <a:spLocks noGrp="1"/>
          </p:cNvSpPr>
          <p:nvPr/>
        </p:nvSpPr>
        <p:spPr>
          <a:xfrm>
            <a:off x="10632521" y="3651392"/>
            <a:ext cx="4338158" cy="641065"/>
          </a:xfrm>
          <a:custGeom>
            <a:avLst/>
            <a:gdLst/>
            <a:ahLst/>
            <a:cxnLst/>
            <a:rect l="l" t="t" r="r" b="b"/>
            <a:pathLst>
              <a:path w="5427367" h="802021">
                <a:moveTo>
                  <a:pt x="70939" y="0"/>
                </a:moveTo>
                <a:lnTo>
                  <a:pt x="5356428" y="0"/>
                </a:lnTo>
                <a:cubicBezTo>
                  <a:pt x="5375242" y="0"/>
                  <a:pt x="5393286" y="7474"/>
                  <a:pt x="5406589" y="20777"/>
                </a:cubicBezTo>
                <a:cubicBezTo>
                  <a:pt x="5419893" y="34081"/>
                  <a:pt x="5427367" y="52125"/>
                  <a:pt x="5427367" y="70939"/>
                </a:cubicBezTo>
                <a:lnTo>
                  <a:pt x="5427367" y="731082"/>
                </a:lnTo>
                <a:cubicBezTo>
                  <a:pt x="5427367" y="770260"/>
                  <a:pt x="5395606" y="802021"/>
                  <a:pt x="5356428" y="802021"/>
                </a:cubicBezTo>
                <a:lnTo>
                  <a:pt x="70939" y="802021"/>
                </a:lnTo>
                <a:cubicBezTo>
                  <a:pt x="52125" y="802021"/>
                  <a:pt x="34081" y="794547"/>
                  <a:pt x="20777" y="781243"/>
                </a:cubicBezTo>
                <a:cubicBezTo>
                  <a:pt x="7474" y="767940"/>
                  <a:pt x="0" y="749896"/>
                  <a:pt x="0" y="731082"/>
                </a:cubicBezTo>
                <a:lnTo>
                  <a:pt x="0" y="70939"/>
                </a:lnTo>
                <a:cubicBezTo>
                  <a:pt x="0" y="52125"/>
                  <a:pt x="7474" y="34081"/>
                  <a:pt x="20777" y="20777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282828"/>
          </a:solidFill>
          <a:ln cap="rnd">
            <a:noFill/>
            <a:prstDash val="solid"/>
            <a:round/>
          </a:ln>
        </p:spPr>
        <p:txBody>
          <a:bodyPr anchor="ctr"/>
          <a:lstStyle/>
          <a:p>
            <a:pPr algn="ctr">
              <a:lnSpc>
                <a:spcPts val="3110"/>
              </a:lnSpc>
              <a:buNone/>
              <a:defRPr/>
            </a:pPr>
            <a:r>
              <a:rPr sz="2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RG3 이슈</a:t>
            </a:r>
            <a:endParaRPr sz="2200"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4" name="TextBox 21"/>
          <p:cNvSpPr>
            <a:spLocks noGrp="1"/>
          </p:cNvSpPr>
          <p:nvPr/>
        </p:nvSpPr>
        <p:spPr>
          <a:xfrm>
            <a:off x="10477500" y="4635486"/>
            <a:ext cx="4648200" cy="1828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2000" b="0">
                <a:solidFill>
                  <a:srgbClr val="282828"/>
                </a:solidFill>
              </a:defRPr>
            </a:defPPr>
          </a:lstStyle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2000" b="0">
                <a:solidFill>
                  <a:srgbClr val="282828"/>
                </a:solidFill>
              </a:defRPr>
            </a:pPr>
            <a:r>
              <a:rPr sz="200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학습구간 불량 25건 모두 RH에서 발생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2000" b="0">
                <a:solidFill>
                  <a:srgbClr val="282828"/>
                </a:solidFill>
              </a:defRPr>
            </a:pPr>
            <a:r>
              <a:rPr sz="200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RH 불량률 4.23% · Side Shortcut 위험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2000" b="0">
                <a:solidFill>
                  <a:srgbClr val="282828"/>
                </a:solidFill>
              </a:defRPr>
            </a:pPr>
            <a:r>
              <a:rPr sz="200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Session별 정상기준·변화방향 상이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2000" b="0">
                <a:solidFill>
                  <a:srgbClr val="282828"/>
                </a:solidFill>
              </a:defRPr>
            </a:pPr>
            <a:r>
              <a:rPr sz="200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내부 성능이 미래 일반화를 보장 못함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6" name="Freeform 13"/>
          <p:cNvSpPr>
            <a:spLocks noGrp="1"/>
          </p:cNvSpPr>
          <p:nvPr/>
        </p:nvSpPr>
        <p:spPr>
          <a:xfrm>
            <a:off x="3317321" y="3652837"/>
            <a:ext cx="4338158" cy="641065"/>
          </a:xfrm>
          <a:custGeom>
            <a:avLst/>
            <a:gdLst/>
            <a:ahLst/>
            <a:cxnLst/>
            <a:rect l="l" t="t" r="r" b="b"/>
            <a:pathLst>
              <a:path w="5427367" h="802021">
                <a:moveTo>
                  <a:pt x="70939" y="0"/>
                </a:moveTo>
                <a:lnTo>
                  <a:pt x="5356428" y="0"/>
                </a:lnTo>
                <a:cubicBezTo>
                  <a:pt x="5375242" y="0"/>
                  <a:pt x="5393286" y="7474"/>
                  <a:pt x="5406589" y="20777"/>
                </a:cubicBezTo>
                <a:cubicBezTo>
                  <a:pt x="5419893" y="34081"/>
                  <a:pt x="5427367" y="52125"/>
                  <a:pt x="5427367" y="70939"/>
                </a:cubicBezTo>
                <a:lnTo>
                  <a:pt x="5427367" y="731082"/>
                </a:lnTo>
                <a:cubicBezTo>
                  <a:pt x="5427367" y="770260"/>
                  <a:pt x="5395606" y="802021"/>
                  <a:pt x="5356428" y="802021"/>
                </a:cubicBezTo>
                <a:lnTo>
                  <a:pt x="70939" y="802021"/>
                </a:lnTo>
                <a:cubicBezTo>
                  <a:pt x="52125" y="802021"/>
                  <a:pt x="34081" y="794547"/>
                  <a:pt x="20777" y="781243"/>
                </a:cubicBezTo>
                <a:cubicBezTo>
                  <a:pt x="7474" y="767940"/>
                  <a:pt x="0" y="749896"/>
                  <a:pt x="0" y="731082"/>
                </a:cubicBezTo>
                <a:lnTo>
                  <a:pt x="0" y="70939"/>
                </a:lnTo>
                <a:cubicBezTo>
                  <a:pt x="0" y="52125"/>
                  <a:pt x="7474" y="34081"/>
                  <a:pt x="20777" y="20777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282828"/>
          </a:solidFill>
          <a:ln cap="rnd">
            <a:noFill/>
            <a:prstDash val="solid"/>
            <a:round/>
          </a:ln>
        </p:spPr>
        <p:txBody>
          <a:bodyPr anchor="ctr"/>
          <a:lstStyle/>
          <a:p>
            <a:pPr algn="ctr">
              <a:lnSpc>
                <a:spcPts val="3110"/>
              </a:lnSpc>
              <a:buNone/>
              <a:defRPr/>
            </a:pPr>
            <a:r>
              <a:rPr sz="2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CN7 이슈</a:t>
            </a:r>
            <a:endParaRPr sz="2200"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7" name="TextBox 21"/>
          <p:cNvSpPr>
            <a:spLocks noGrp="1"/>
          </p:cNvSpPr>
          <p:nvPr/>
        </p:nvSpPr>
        <p:spPr>
          <a:xfrm>
            <a:off x="3162300" y="4636931"/>
            <a:ext cx="4648200" cy="18257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불량 비율 1.40%, 심한 클래스 불균형</a:t>
            </a:r>
          </a:p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LH/RH 센서 공유해도 품질결과는 다름</a:t>
            </a:r>
          </a:p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불량이 특정 시점에 집중 발생</a:t>
            </a:r>
          </a:p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내부 고성능이 미래 불량을 보장 못함</a:t>
            </a:r>
          </a:p>
        </p:txBody>
      </p:sp>
      <p:sp>
        <p:nvSpPr>
          <p:cNvPr id="40" name="직사각형 39"/>
          <p:cNvSpPr>
            <a:spLocks noGrp="1"/>
          </p:cNvSpPr>
          <p:nvPr/>
        </p:nvSpPr>
        <p:spPr>
          <a:xfrm>
            <a:off x="914400" y="973455"/>
            <a:ext cx="2453640" cy="360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01 문제 정의와 분석 목표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분석 목표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201" name="HDiv"/>
          <p:cNvSpPr>
            <a:spLocks noGrp="1"/>
          </p:cNvSpPr>
          <p:nvPr/>
        </p:nvSpPr>
        <p:spPr>
          <a:xfrm>
            <a:off x="1943662" y="6104106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202" name="VDiv"/>
          <p:cNvSpPr>
            <a:spLocks noGrp="1"/>
          </p:cNvSpPr>
          <p:nvPr/>
        </p:nvSpPr>
        <p:spPr>
          <a:xfrm rot="5400000">
            <a:off x="5748107" y="6104106"/>
            <a:ext cx="6791787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215" name="직사각형 214"/>
          <p:cNvSpPr>
            <a:spLocks noGrp="1"/>
          </p:cNvSpPr>
          <p:nvPr/>
        </p:nvSpPr>
        <p:spPr>
          <a:xfrm>
            <a:off x="2209800" y="3286125"/>
            <a:ext cx="6406522" cy="2026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sz="3500">
                <a:latin typeface="Pretendard SemiBold"/>
                <a:ea typeface="Pretendard SemiBold"/>
                <a:cs typeface="Pretendard SemiBold"/>
              </a:rPr>
              <a:t>01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sz="2500">
                <a:latin typeface="Pretendard Medium"/>
                <a:ea typeface="Pretendard Medium"/>
                <a:cs typeface="Pretendard Medium"/>
              </a:rPr>
              <a:t>Accuracy 대신 PR-AUC · Recall · Precision 중심으로 평가</a:t>
            </a:r>
          </a:p>
        </p:txBody>
      </p:sp>
      <p:sp>
        <p:nvSpPr>
          <p:cNvPr id="216" name="직사각형 215"/>
          <p:cNvSpPr>
            <a:spLocks noGrp="1"/>
          </p:cNvSpPr>
          <p:nvPr/>
        </p:nvSpPr>
        <p:spPr>
          <a:xfrm>
            <a:off x="9448800" y="3286125"/>
            <a:ext cx="6863722" cy="2026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sz="3500">
                <a:latin typeface="Pretendard SemiBold"/>
                <a:ea typeface="Pretendard SemiBold"/>
                <a:cs typeface="Pretendard SemiBold"/>
              </a:rPr>
              <a:t>02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sz="2500">
                <a:latin typeface="Pretendard Medium"/>
                <a:ea typeface="Pretendard Medium"/>
                <a:cs typeface="Pretendard Medium"/>
              </a:rPr>
              <a:t>내부 반복검증(Group-CV)과 미래 시간검증 (Temporal/Holdout)을 구분해 성능 과대평가 방지</a:t>
            </a:r>
          </a:p>
        </p:txBody>
      </p:sp>
      <p:sp>
        <p:nvSpPr>
          <p:cNvPr id="218" name="직사각형 217"/>
          <p:cNvSpPr>
            <a:spLocks noGrp="1"/>
          </p:cNvSpPr>
          <p:nvPr/>
        </p:nvSpPr>
        <p:spPr>
          <a:xfrm>
            <a:off x="9448800" y="6334124"/>
            <a:ext cx="6406522" cy="2026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sz="3500">
                <a:latin typeface="Pretendard SemiBold"/>
                <a:ea typeface="Pretendard SemiBold"/>
                <a:cs typeface="Pretendard SemiBold"/>
              </a:rPr>
              <a:t>04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sz="2500">
                <a:latin typeface="Pretendard Medium"/>
                <a:ea typeface="Pretendard Medium"/>
                <a:cs typeface="Pretendard Medium"/>
              </a:rPr>
              <a:t>자동 판정이 아닌 검사 우선순위를 지원하는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sz="2500">
                <a:latin typeface="Pretendard Medium"/>
                <a:ea typeface="Pretendard Medium"/>
                <a:cs typeface="Pretendard Medium"/>
              </a:rPr>
              <a:t>의사결정 시스템 설계</a:t>
            </a:r>
          </a:p>
        </p:txBody>
      </p:sp>
      <p:sp>
        <p:nvSpPr>
          <p:cNvPr id="219" name="직사각형 218"/>
          <p:cNvSpPr>
            <a:spLocks noGrp="1"/>
          </p:cNvSpPr>
          <p:nvPr/>
        </p:nvSpPr>
        <p:spPr>
          <a:xfrm>
            <a:off x="914400" y="973455"/>
            <a:ext cx="2453640" cy="360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01 문제 정의와 분석 목표</a:t>
            </a:r>
          </a:p>
        </p:txBody>
      </p:sp>
      <p:sp>
        <p:nvSpPr>
          <p:cNvPr id="221" name="직사각형 220"/>
          <p:cNvSpPr>
            <a:spLocks noGrp="1"/>
          </p:cNvSpPr>
          <p:nvPr/>
        </p:nvSpPr>
        <p:spPr>
          <a:xfrm>
            <a:off x="2209800" y="6334124"/>
            <a:ext cx="6406522" cy="2598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sz="3500">
                <a:latin typeface="Pretendard SemiBold"/>
                <a:ea typeface="Pretendard SemiBold"/>
                <a:cs typeface="Pretendard SemiBold"/>
              </a:rPr>
              <a:t>0</a:t>
            </a:r>
            <a:r>
              <a:rPr lang="en-US" altLang="ko-KR" sz="3500">
                <a:latin typeface="Pretendard SemiBold"/>
                <a:ea typeface="Pretendard SemiBold"/>
                <a:cs typeface="Pretendard SemiBold"/>
              </a:rPr>
              <a:t>3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lang="en-US" altLang="ko-KR" sz="2500">
                <a:latin typeface="Pretendard Medium"/>
                <a:ea typeface="Pretendard Medium"/>
                <a:cs typeface="Pretendard Medium"/>
              </a:rPr>
              <a:t>CN7: Risk·Uncertainty·PCA-OOD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lang="en-US" altLang="ko-KR" sz="2500">
                <a:latin typeface="Pretendard Medium"/>
                <a:ea typeface="Pretendard Medium"/>
                <a:cs typeface="Pretendard Medium"/>
              </a:rPr>
              <a:t>RG3: </a:t>
            </a:r>
            <a:r>
              <a:rPr lang="ko-KR" altLang="en-US" sz="2500">
                <a:latin typeface="Pretendard Medium"/>
                <a:ea typeface="Pretendard Medium"/>
                <a:cs typeface="Pretendard Medium"/>
              </a:rPr>
              <a:t>보조 </a:t>
            </a:r>
            <a:r>
              <a:rPr lang="en-US" altLang="ko-KR" sz="2500">
                <a:latin typeface="Pretendard Medium"/>
                <a:ea typeface="Pretendard Medium"/>
                <a:cs typeface="Pretendard Medium"/>
              </a:rPr>
              <a:t>Risk Ranking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lang="ko-KR" altLang="en-US" sz="2500">
                <a:latin typeface="Pretendard Medium"/>
                <a:ea typeface="Pretendard Medium"/>
                <a:cs typeface="Pretendard Medium"/>
              </a:rPr>
              <a:t>검사 우선순위 의사결정 지원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CN7·RG3 데이터 비교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8458200" y="5107833"/>
            <a:ext cx="7580461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0" name="Freeform 10"/>
          <p:cNvSpPr>
            <a:spLocks noGrp="1"/>
          </p:cNvSpPr>
          <p:nvPr/>
        </p:nvSpPr>
        <p:spPr>
          <a:xfrm>
            <a:off x="2211568" y="3557971"/>
            <a:ext cx="5673369" cy="5166929"/>
          </a:xfrm>
          <a:custGeom>
            <a:avLst/>
            <a:gdLst/>
            <a:ahLst/>
            <a:cxnLst/>
            <a:rect l="l" t="t" r="r" b="b"/>
            <a:pathLst>
              <a:path w="910592" h="829307">
                <a:moveTo>
                  <a:pt x="20469" y="0"/>
                </a:moveTo>
                <a:lnTo>
                  <a:pt x="890123" y="0"/>
                </a:lnTo>
                <a:cubicBezTo>
                  <a:pt x="901428" y="0"/>
                  <a:pt x="910592" y="9164"/>
                  <a:pt x="910592" y="20469"/>
                </a:cubicBezTo>
                <a:lnTo>
                  <a:pt x="910592" y="808838"/>
                </a:lnTo>
                <a:cubicBezTo>
                  <a:pt x="910592" y="814267"/>
                  <a:pt x="908436" y="819473"/>
                  <a:pt x="904597" y="823312"/>
                </a:cubicBezTo>
                <a:cubicBezTo>
                  <a:pt x="900758" y="827150"/>
                  <a:pt x="895552" y="829307"/>
                  <a:pt x="890123" y="829307"/>
                </a:cubicBezTo>
                <a:lnTo>
                  <a:pt x="20469" y="829307"/>
                </a:lnTo>
                <a:cubicBezTo>
                  <a:pt x="15040" y="829307"/>
                  <a:pt x="9834" y="827150"/>
                  <a:pt x="5995" y="823312"/>
                </a:cubicBezTo>
                <a:cubicBezTo>
                  <a:pt x="2157" y="819473"/>
                  <a:pt x="0" y="814267"/>
                  <a:pt x="0" y="808838"/>
                </a:cubicBezTo>
                <a:lnTo>
                  <a:pt x="0" y="20469"/>
                </a:lnTo>
                <a:cubicBezTo>
                  <a:pt x="0" y="15040"/>
                  <a:pt x="2157" y="9834"/>
                  <a:pt x="5995" y="5995"/>
                </a:cubicBezTo>
                <a:cubicBezTo>
                  <a:pt x="9834" y="2157"/>
                  <a:pt x="15040" y="0"/>
                  <a:pt x="20469" y="0"/>
                </a:cubicBezTo>
                <a:close/>
              </a:path>
            </a:pathLst>
          </a:custGeom>
          <a:blipFill rotWithShape="1">
            <a:blip r:embed="rId3"/>
            <a:stretch>
              <a:fillRect l="-18240" r="-18240"/>
            </a:stretch>
          </a:blip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8458200" y="7184833"/>
            <a:ext cx="7580461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10604754" y="3557971"/>
            <a:ext cx="5329694" cy="102571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687"/>
              </a:lnSpc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CN7은 1,211건(정상 1,194·불량 17, 1.40%) 중</a:t>
            </a:r>
          </a:p>
          <a:p>
            <a:pPr algn="just">
              <a:lnSpc>
                <a:spcPts val="2687"/>
              </a:lnSpc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Original 23개+Side 1개+Roll5Mean 23개=47개</a:t>
            </a:r>
          </a:p>
          <a:p>
            <a:pPr algn="just">
              <a:lnSpc>
                <a:spcPts val="2687"/>
              </a:lnSpc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Feature 사용</a:t>
            </a:r>
          </a:p>
        </p:txBody>
      </p:sp>
      <p:sp>
        <p:nvSpPr>
          <p:cNvPr id="17" name="Freeform 17"/>
          <p:cNvSpPr>
            <a:spLocks noGrp="1"/>
          </p:cNvSpPr>
          <p:nvPr/>
        </p:nvSpPr>
        <p:spPr>
          <a:xfrm>
            <a:off x="8458200" y="3562868"/>
            <a:ext cx="1804766" cy="1015917"/>
          </a:xfrm>
          <a:custGeom>
            <a:avLst/>
            <a:gdLst/>
            <a:ahLst/>
            <a:cxnLst/>
            <a:rect l="l" t="t" r="r" b="b"/>
            <a:pathLst>
              <a:path w="1957423" h="1101849">
                <a:moveTo>
                  <a:pt x="64039" y="0"/>
                </a:moveTo>
                <a:lnTo>
                  <a:pt x="1893384" y="0"/>
                </a:lnTo>
                <a:cubicBezTo>
                  <a:pt x="1928752" y="0"/>
                  <a:pt x="1957423" y="28671"/>
                  <a:pt x="1957423" y="64039"/>
                </a:cubicBezTo>
                <a:lnTo>
                  <a:pt x="1957423" y="1037809"/>
                </a:lnTo>
                <a:cubicBezTo>
                  <a:pt x="1957423" y="1073177"/>
                  <a:pt x="1928752" y="1101849"/>
                  <a:pt x="1893384" y="1101849"/>
                </a:cubicBezTo>
                <a:lnTo>
                  <a:pt x="64039" y="1101849"/>
                </a:lnTo>
                <a:cubicBezTo>
                  <a:pt x="28671" y="1101849"/>
                  <a:pt x="0" y="1073177"/>
                  <a:pt x="0" y="1037809"/>
                </a:cubicBezTo>
                <a:lnTo>
                  <a:pt x="0" y="64039"/>
                </a:lnTo>
                <a:cubicBezTo>
                  <a:pt x="0" y="28671"/>
                  <a:pt x="28671" y="0"/>
                  <a:pt x="64039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marL="0" lvl="0" indent="0" algn="ctr">
              <a:lnSpc>
                <a:spcPts val="2911"/>
              </a:lnSpc>
              <a:spcBef>
                <a:spcPct val="0"/>
              </a:spcBef>
              <a:buNone/>
              <a:defRPr/>
            </a:pPr>
            <a:r>
              <a:rPr sz="2200" b="1" u="none" strike="noStrike" spc="163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CN7</a:t>
            </a:r>
          </a:p>
          <a:p>
            <a:pPr marL="0" lvl="0" indent="0" algn="ctr">
              <a:lnSpc>
                <a:spcPts val="2911"/>
              </a:lnSpc>
              <a:spcBef>
                <a:spcPct val="0"/>
              </a:spcBef>
              <a:buNone/>
              <a:defRPr/>
            </a:pPr>
            <a:r>
              <a:rPr sz="2200" b="1" u="none" strike="noStrike" spc="163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1,211건</a:t>
            </a:r>
            <a:endParaRPr sz="2200"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2" name="TextBox 12"/>
          <p:cNvSpPr>
            <a:spLocks noGrp="1"/>
          </p:cNvSpPr>
          <p:nvPr/>
        </p:nvSpPr>
        <p:spPr>
          <a:xfrm>
            <a:off x="10604754" y="5631983"/>
            <a:ext cx="5329694" cy="10287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687"/>
              </a:lnSpc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RG3는 1,182건(정상 1,157·불량 25, 2.12%) 중</a:t>
            </a:r>
          </a:p>
          <a:p>
            <a:pPr algn="just">
              <a:lnSpc>
                <a:spcPts val="2687"/>
              </a:lnSpc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RH 591건만 모델링, Absolute EWMA5 23개</a:t>
            </a:r>
          </a:p>
          <a:p>
            <a:pPr algn="just">
              <a:lnSpc>
                <a:spcPts val="2687"/>
              </a:lnSpc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Feature 사용</a:t>
            </a:r>
          </a:p>
        </p:txBody>
      </p:sp>
      <p:sp>
        <p:nvSpPr>
          <p:cNvPr id="33" name="Freeform 17"/>
          <p:cNvSpPr>
            <a:spLocks noGrp="1"/>
          </p:cNvSpPr>
          <p:nvPr/>
        </p:nvSpPr>
        <p:spPr>
          <a:xfrm>
            <a:off x="8458200" y="5636880"/>
            <a:ext cx="1804766" cy="1015917"/>
          </a:xfrm>
          <a:custGeom>
            <a:avLst/>
            <a:gdLst/>
            <a:ahLst/>
            <a:cxnLst/>
            <a:rect l="l" t="t" r="r" b="b"/>
            <a:pathLst>
              <a:path w="1957423" h="1101849">
                <a:moveTo>
                  <a:pt x="64039" y="0"/>
                </a:moveTo>
                <a:lnTo>
                  <a:pt x="1893384" y="0"/>
                </a:lnTo>
                <a:cubicBezTo>
                  <a:pt x="1928752" y="0"/>
                  <a:pt x="1957423" y="28671"/>
                  <a:pt x="1957423" y="64039"/>
                </a:cubicBezTo>
                <a:lnTo>
                  <a:pt x="1957423" y="1037809"/>
                </a:lnTo>
                <a:cubicBezTo>
                  <a:pt x="1957423" y="1073177"/>
                  <a:pt x="1928752" y="1101849"/>
                  <a:pt x="1893384" y="1101849"/>
                </a:cubicBezTo>
                <a:lnTo>
                  <a:pt x="64039" y="1101849"/>
                </a:lnTo>
                <a:cubicBezTo>
                  <a:pt x="28671" y="1101849"/>
                  <a:pt x="0" y="1073177"/>
                  <a:pt x="0" y="1037809"/>
                </a:cubicBezTo>
                <a:lnTo>
                  <a:pt x="0" y="64039"/>
                </a:lnTo>
                <a:cubicBezTo>
                  <a:pt x="0" y="28671"/>
                  <a:pt x="28671" y="0"/>
                  <a:pt x="64039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marL="0" lvl="0" indent="0" algn="ctr">
              <a:lnSpc>
                <a:spcPts val="2911"/>
              </a:lnSpc>
              <a:spcBef>
                <a:spcPct val="0"/>
              </a:spcBef>
              <a:buNone/>
              <a:defRPr/>
            </a:pPr>
            <a:r>
              <a:rPr sz="2200" b="1" u="none" strike="noStrike" spc="163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RG3</a:t>
            </a:r>
          </a:p>
          <a:p>
            <a:pPr marL="0" lvl="0" indent="0" algn="ctr">
              <a:lnSpc>
                <a:spcPts val="2911"/>
              </a:lnSpc>
              <a:spcBef>
                <a:spcPct val="0"/>
              </a:spcBef>
              <a:buNone/>
              <a:defRPr/>
            </a:pPr>
            <a:r>
              <a:rPr sz="2200" b="1" u="none" strike="noStrike" spc="163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1,182건</a:t>
            </a:r>
          </a:p>
        </p:txBody>
      </p:sp>
      <p:sp>
        <p:nvSpPr>
          <p:cNvPr id="37" name="직사각형 36"/>
          <p:cNvSpPr>
            <a:spLocks noGrp="1"/>
          </p:cNvSpPr>
          <p:nvPr/>
        </p:nvSpPr>
        <p:spPr>
          <a:xfrm>
            <a:off x="914399" y="973455"/>
            <a:ext cx="1901191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02 CN7 모델 개발</a:t>
            </a:r>
          </a:p>
        </p:txBody>
      </p:sp>
      <p:sp>
        <p:nvSpPr>
          <p:cNvPr id="38" name="Freeform 17"/>
          <p:cNvSpPr>
            <a:spLocks noGrp="1"/>
          </p:cNvSpPr>
          <p:nvPr/>
        </p:nvSpPr>
        <p:spPr>
          <a:xfrm>
            <a:off x="8458200" y="7681890"/>
            <a:ext cx="1804766" cy="1015917"/>
          </a:xfrm>
          <a:custGeom>
            <a:avLst/>
            <a:gdLst/>
            <a:ahLst/>
            <a:cxnLst/>
            <a:rect l="l" t="t" r="r" b="b"/>
            <a:pathLst>
              <a:path w="1957423" h="1101849">
                <a:moveTo>
                  <a:pt x="64039" y="0"/>
                </a:moveTo>
                <a:lnTo>
                  <a:pt x="1893384" y="0"/>
                </a:lnTo>
                <a:cubicBezTo>
                  <a:pt x="1928752" y="0"/>
                  <a:pt x="1957423" y="28671"/>
                  <a:pt x="1957423" y="64039"/>
                </a:cubicBezTo>
                <a:lnTo>
                  <a:pt x="1957423" y="1037809"/>
                </a:lnTo>
                <a:cubicBezTo>
                  <a:pt x="1957423" y="1073177"/>
                  <a:pt x="1928752" y="1101849"/>
                  <a:pt x="1893384" y="1101849"/>
                </a:cubicBezTo>
                <a:lnTo>
                  <a:pt x="64039" y="1101849"/>
                </a:lnTo>
                <a:cubicBezTo>
                  <a:pt x="28671" y="1101849"/>
                  <a:pt x="0" y="1073177"/>
                  <a:pt x="0" y="1037809"/>
                </a:cubicBezTo>
                <a:lnTo>
                  <a:pt x="0" y="64039"/>
                </a:lnTo>
                <a:cubicBezTo>
                  <a:pt x="0" y="28671"/>
                  <a:pt x="28671" y="0"/>
                  <a:pt x="64039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marL="0" lvl="0" indent="0" algn="ctr">
              <a:lnSpc>
                <a:spcPts val="2911"/>
              </a:lnSpc>
              <a:spcBef>
                <a:spcPct val="0"/>
              </a:spcBef>
              <a:buNone/>
              <a:defRPr/>
            </a:pPr>
            <a:r>
              <a:rPr lang="ko-KR" altLang="en-US" sz="2200" b="1" u="none" strike="noStrike" spc="163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검증설계</a:t>
            </a:r>
          </a:p>
        </p:txBody>
      </p:sp>
      <p:sp>
        <p:nvSpPr>
          <p:cNvPr id="39" name="TextBox 12"/>
          <p:cNvSpPr>
            <a:spLocks noGrp="1"/>
          </p:cNvSpPr>
          <p:nvPr/>
        </p:nvSpPr>
        <p:spPr>
          <a:xfrm>
            <a:off x="10604754" y="7850190"/>
            <a:ext cx="5329694" cy="67931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687"/>
              </a:lnSpc>
              <a:buNone/>
              <a:defRPr/>
            </a:pPr>
            <a:r>
              <a:rPr lang="en-US" altLang="ko-KR"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CN7: TimeStamp </a:t>
            </a:r>
            <a:r>
              <a:rPr lang="ko-KR" altLang="en-US"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그룹 기반 반복 </a:t>
            </a:r>
            <a:r>
              <a:rPr lang="en-US" altLang="ko-KR"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Group-OOF</a:t>
            </a:r>
          </a:p>
          <a:p>
            <a:pPr algn="just">
              <a:lnSpc>
                <a:spcPts val="2687"/>
              </a:lnSpc>
              <a:buNone/>
              <a:defRPr/>
            </a:pPr>
            <a:r>
              <a:rPr lang="en-US" altLang="ko-KR"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RG3: Session </a:t>
            </a:r>
            <a:r>
              <a:rPr lang="ko-KR" altLang="en-US"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시간순 </a:t>
            </a:r>
            <a:r>
              <a:rPr lang="en-US" altLang="ko-KR"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Rolling·Final Holdout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Cycle · Side · Session 구조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9" name="Freeform 9"/>
          <p:cNvSpPr>
            <a:spLocks noGrp="1"/>
          </p:cNvSpPr>
          <p:nvPr/>
        </p:nvSpPr>
        <p:spPr>
          <a:xfrm>
            <a:off x="1943662" y="7156851"/>
            <a:ext cx="14400676" cy="1616165"/>
          </a:xfrm>
          <a:custGeom>
            <a:avLst/>
            <a:gdLst/>
            <a:ahLst/>
            <a:cxnLst/>
            <a:rect l="l" t="t" r="r" b="b"/>
            <a:pathLst>
              <a:path w="2645347" h="296883">
                <a:moveTo>
                  <a:pt x="9677" y="0"/>
                </a:moveTo>
                <a:lnTo>
                  <a:pt x="2635670" y="0"/>
                </a:lnTo>
                <a:cubicBezTo>
                  <a:pt x="2638236" y="0"/>
                  <a:pt x="2640698" y="1020"/>
                  <a:pt x="2642513" y="2834"/>
                </a:cubicBezTo>
                <a:cubicBezTo>
                  <a:pt x="2644327" y="4649"/>
                  <a:pt x="2645347" y="7110"/>
                  <a:pt x="2645347" y="9677"/>
                </a:cubicBezTo>
                <a:lnTo>
                  <a:pt x="2645347" y="287206"/>
                </a:lnTo>
                <a:cubicBezTo>
                  <a:pt x="2645347" y="292551"/>
                  <a:pt x="2641014" y="296883"/>
                  <a:pt x="2635670" y="296883"/>
                </a:cubicBezTo>
                <a:lnTo>
                  <a:pt x="9677" y="296883"/>
                </a:lnTo>
                <a:cubicBezTo>
                  <a:pt x="7110" y="296883"/>
                  <a:pt x="4649" y="295863"/>
                  <a:pt x="2834" y="294049"/>
                </a:cubicBezTo>
                <a:cubicBezTo>
                  <a:pt x="1020" y="292234"/>
                  <a:pt x="0" y="289773"/>
                  <a:pt x="0" y="287206"/>
                </a:cubicBezTo>
                <a:lnTo>
                  <a:pt x="0" y="9677"/>
                </a:lnTo>
                <a:cubicBezTo>
                  <a:pt x="0" y="4333"/>
                  <a:pt x="4333" y="0"/>
                  <a:pt x="9677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3124200" y="7700187"/>
            <a:ext cx="1143000" cy="5294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73"/>
              </a:lnSpc>
              <a:spcBef>
                <a:spcPct val="0"/>
              </a:spcBef>
              <a:buNone/>
              <a:defRPr/>
            </a:pPr>
            <a:r>
              <a:rPr sz="2981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시사점</a:t>
            </a:r>
          </a:p>
        </p:txBody>
      </p:sp>
      <p:sp>
        <p:nvSpPr>
          <p:cNvPr id="24" name="Freeform 24"/>
          <p:cNvSpPr>
            <a:spLocks noGrp="1"/>
          </p:cNvSpPr>
          <p:nvPr/>
        </p:nvSpPr>
        <p:spPr>
          <a:xfrm>
            <a:off x="2562730" y="7755064"/>
            <a:ext cx="378528" cy="419739"/>
          </a:xfrm>
          <a:custGeom>
            <a:avLst/>
            <a:gdLst/>
            <a:ahLst/>
            <a:cxnLst/>
            <a:rect l="l" t="t" r="r" b="b"/>
            <a:pathLst>
              <a:path w="378528" h="419739">
                <a:moveTo>
                  <a:pt x="0" y="0"/>
                </a:moveTo>
                <a:lnTo>
                  <a:pt x="378529" y="0"/>
                </a:lnTo>
                <a:lnTo>
                  <a:pt x="378529" y="419739"/>
                </a:lnTo>
                <a:lnTo>
                  <a:pt x="0" y="419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4724398" y="7760146"/>
            <a:ext cx="10287002" cy="40277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just">
              <a:lnSpc>
                <a:spcPts val="3161"/>
              </a:lnSpc>
              <a:buNone/>
              <a:defRPr/>
            </a:pPr>
            <a:r>
              <a:rPr sz="2200" u="none" strike="noStrike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CN7·RG3 모두 Cycle·Side·Session의 시간적 종속관계를 가진 제조 시계열 데이터</a:t>
            </a:r>
            <a:endParaRPr sz="2200" u="none" strike="noStrike">
              <a:solidFill>
                <a:srgbClr val="28282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AutoShape 26"/>
          <p:cNvSpPr>
            <a:spLocks noGrp="1"/>
          </p:cNvSpPr>
          <p:nvPr/>
        </p:nvSpPr>
        <p:spPr>
          <a:xfrm>
            <a:off x="4419600" y="7706341"/>
            <a:ext cx="0" cy="517185"/>
          </a:xfrm>
          <a:prstGeom prst="line">
            <a:avLst/>
          </a:prstGeom>
          <a:ln w="28575" cap="flat">
            <a:solidFill>
              <a:srgbClr val="282828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AutoShape 27"/>
          <p:cNvSpPr>
            <a:spLocks noGrp="1"/>
          </p:cNvSpPr>
          <p:nvPr/>
        </p:nvSpPr>
        <p:spPr>
          <a:xfrm>
            <a:off x="9144000" y="3727108"/>
            <a:ext cx="0" cy="2661335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2" name="Freeform 13"/>
          <p:cNvSpPr>
            <a:spLocks noGrp="1"/>
          </p:cNvSpPr>
          <p:nvPr/>
        </p:nvSpPr>
        <p:spPr>
          <a:xfrm>
            <a:off x="10632521" y="3651393"/>
            <a:ext cx="4338158" cy="641065"/>
          </a:xfrm>
          <a:custGeom>
            <a:avLst/>
            <a:gdLst/>
            <a:ahLst/>
            <a:cxnLst/>
            <a:rect l="l" t="t" r="r" b="b"/>
            <a:pathLst>
              <a:path w="5427367" h="802021">
                <a:moveTo>
                  <a:pt x="70939" y="0"/>
                </a:moveTo>
                <a:lnTo>
                  <a:pt x="5356428" y="0"/>
                </a:lnTo>
                <a:cubicBezTo>
                  <a:pt x="5375242" y="0"/>
                  <a:pt x="5393286" y="7474"/>
                  <a:pt x="5406589" y="20777"/>
                </a:cubicBezTo>
                <a:cubicBezTo>
                  <a:pt x="5419893" y="34081"/>
                  <a:pt x="5427367" y="52125"/>
                  <a:pt x="5427367" y="70939"/>
                </a:cubicBezTo>
                <a:lnTo>
                  <a:pt x="5427367" y="731082"/>
                </a:lnTo>
                <a:cubicBezTo>
                  <a:pt x="5427367" y="770260"/>
                  <a:pt x="5395606" y="802021"/>
                  <a:pt x="5356428" y="802021"/>
                </a:cubicBezTo>
                <a:lnTo>
                  <a:pt x="70939" y="802021"/>
                </a:lnTo>
                <a:cubicBezTo>
                  <a:pt x="52125" y="802021"/>
                  <a:pt x="34081" y="794547"/>
                  <a:pt x="20777" y="781243"/>
                </a:cubicBezTo>
                <a:cubicBezTo>
                  <a:pt x="7474" y="767940"/>
                  <a:pt x="0" y="749896"/>
                  <a:pt x="0" y="731082"/>
                </a:cubicBezTo>
                <a:lnTo>
                  <a:pt x="0" y="70939"/>
                </a:lnTo>
                <a:cubicBezTo>
                  <a:pt x="0" y="52125"/>
                  <a:pt x="7474" y="34081"/>
                  <a:pt x="20777" y="20777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282828"/>
          </a:solidFill>
          <a:ln cap="rnd">
            <a:noFill/>
            <a:prstDash val="solid"/>
            <a:round/>
          </a:ln>
        </p:spPr>
        <p:txBody>
          <a:bodyPr anchor="ctr"/>
          <a:lstStyle/>
          <a:p>
            <a:pPr algn="ctr">
              <a:lnSpc>
                <a:spcPts val="3110"/>
              </a:lnSpc>
              <a:buNone/>
              <a:defRPr/>
            </a:pPr>
            <a:r>
              <a:rPr sz="2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RG3 구조</a:t>
            </a:r>
          </a:p>
        </p:txBody>
      </p:sp>
      <p:sp>
        <p:nvSpPr>
          <p:cNvPr id="34" name="TextBox 21"/>
          <p:cNvSpPr>
            <a:spLocks noGrp="1"/>
          </p:cNvSpPr>
          <p:nvPr/>
        </p:nvSpPr>
        <p:spPr>
          <a:xfrm>
            <a:off x="10477500" y="4635486"/>
            <a:ext cx="4648200" cy="18224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생산공백 30분 이상 = 새 Session</a:t>
            </a:r>
          </a:p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총 5개 Session(41~197건) 구분</a:t>
            </a:r>
          </a:p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시간 Feature는 Session 내부에서만 계산</a:t>
            </a:r>
          </a:p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Session별 정상기준·변화방향 상이</a:t>
            </a:r>
          </a:p>
        </p:txBody>
      </p:sp>
      <p:sp>
        <p:nvSpPr>
          <p:cNvPr id="36" name="Freeform 13"/>
          <p:cNvSpPr>
            <a:spLocks noGrp="1"/>
          </p:cNvSpPr>
          <p:nvPr/>
        </p:nvSpPr>
        <p:spPr>
          <a:xfrm>
            <a:off x="3317321" y="3652838"/>
            <a:ext cx="4338158" cy="641065"/>
          </a:xfrm>
          <a:custGeom>
            <a:avLst/>
            <a:gdLst/>
            <a:ahLst/>
            <a:cxnLst/>
            <a:rect l="l" t="t" r="r" b="b"/>
            <a:pathLst>
              <a:path w="5427367" h="802021">
                <a:moveTo>
                  <a:pt x="70939" y="0"/>
                </a:moveTo>
                <a:lnTo>
                  <a:pt x="5356428" y="0"/>
                </a:lnTo>
                <a:cubicBezTo>
                  <a:pt x="5375242" y="0"/>
                  <a:pt x="5393286" y="7474"/>
                  <a:pt x="5406589" y="20777"/>
                </a:cubicBezTo>
                <a:cubicBezTo>
                  <a:pt x="5419893" y="34081"/>
                  <a:pt x="5427367" y="52125"/>
                  <a:pt x="5427367" y="70939"/>
                </a:cubicBezTo>
                <a:lnTo>
                  <a:pt x="5427367" y="731082"/>
                </a:lnTo>
                <a:cubicBezTo>
                  <a:pt x="5427367" y="770260"/>
                  <a:pt x="5395606" y="802021"/>
                  <a:pt x="5356428" y="802021"/>
                </a:cubicBezTo>
                <a:lnTo>
                  <a:pt x="70939" y="802021"/>
                </a:lnTo>
                <a:cubicBezTo>
                  <a:pt x="52125" y="802021"/>
                  <a:pt x="34081" y="794547"/>
                  <a:pt x="20777" y="781243"/>
                </a:cubicBezTo>
                <a:cubicBezTo>
                  <a:pt x="7474" y="767940"/>
                  <a:pt x="0" y="749896"/>
                  <a:pt x="0" y="731082"/>
                </a:cubicBezTo>
                <a:lnTo>
                  <a:pt x="0" y="70939"/>
                </a:lnTo>
                <a:cubicBezTo>
                  <a:pt x="0" y="52125"/>
                  <a:pt x="7474" y="34081"/>
                  <a:pt x="20777" y="20777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282828"/>
          </a:solidFill>
          <a:ln cap="rnd">
            <a:noFill/>
            <a:prstDash val="solid"/>
            <a:round/>
          </a:ln>
        </p:spPr>
        <p:txBody>
          <a:bodyPr anchor="ctr"/>
          <a:lstStyle/>
          <a:p>
            <a:pPr algn="ctr">
              <a:lnSpc>
                <a:spcPts val="3110"/>
              </a:lnSpc>
              <a:buNone/>
              <a:defRPr/>
            </a:pPr>
            <a:r>
              <a:rPr sz="2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CN7 구조</a:t>
            </a:r>
          </a:p>
        </p:txBody>
      </p:sp>
      <p:sp>
        <p:nvSpPr>
          <p:cNvPr id="37" name="TextBox 21"/>
          <p:cNvSpPr>
            <a:spLocks noGrp="1"/>
          </p:cNvSpPr>
          <p:nvPr/>
        </p:nvSpPr>
        <p:spPr>
          <a:xfrm>
            <a:off x="3162300" y="4636931"/>
            <a:ext cx="4991100" cy="182101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Cycle→공정조건→LH/RH→품질 계층구조</a:t>
            </a:r>
          </a:p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동일 TimeStamp, LH/RH 센서값 공유</a:t>
            </a:r>
          </a:p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LH/RH 다른 Fold 배치 시 과대평가 위험</a:t>
            </a:r>
          </a:p>
          <a:p>
            <a:pPr marL="410209" lvl="1" indent="-205105" algn="just">
              <a:lnSpc>
                <a:spcPct val="150000"/>
              </a:lnSpc>
              <a:buFont typeface="Arial"/>
              <a:buChar char="•"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직전 5 Cycle 평균이 위험도와 높은 연관</a:t>
            </a:r>
          </a:p>
        </p:txBody>
      </p:sp>
      <p:sp>
        <p:nvSpPr>
          <p:cNvPr id="39" name="직사각형 38"/>
          <p:cNvSpPr>
            <a:spLocks noGrp="1"/>
          </p:cNvSpPr>
          <p:nvPr/>
        </p:nvSpPr>
        <p:spPr>
          <a:xfrm>
            <a:off x="914399" y="973455"/>
            <a:ext cx="1901191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02 CN7 모델 개발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전체 분석 Pipeline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" name="Freeform 9"/>
          <p:cNvSpPr>
            <a:spLocks noGrp="1"/>
          </p:cNvSpPr>
          <p:nvPr/>
        </p:nvSpPr>
        <p:spPr>
          <a:xfrm>
            <a:off x="1943662" y="3282153"/>
            <a:ext cx="6969960" cy="2667000"/>
          </a:xfrm>
          <a:custGeom>
            <a:avLst/>
            <a:gdLst/>
            <a:ahLst/>
            <a:cxnLst/>
            <a:rect l="l" t="t" r="r" b="b"/>
            <a:pathLst>
              <a:path w="1243201" h="475701">
                <a:moveTo>
                  <a:pt x="19994" y="0"/>
                </a:moveTo>
                <a:lnTo>
                  <a:pt x="1223207" y="0"/>
                </a:lnTo>
                <a:cubicBezTo>
                  <a:pt x="1234250" y="0"/>
                  <a:pt x="1243201" y="8951"/>
                  <a:pt x="1243201" y="19994"/>
                </a:cubicBezTo>
                <a:lnTo>
                  <a:pt x="1243201" y="455707"/>
                </a:lnTo>
                <a:cubicBezTo>
                  <a:pt x="1243201" y="461010"/>
                  <a:pt x="1241095" y="466096"/>
                  <a:pt x="1237345" y="469845"/>
                </a:cubicBezTo>
                <a:cubicBezTo>
                  <a:pt x="1233596" y="473595"/>
                  <a:pt x="1228510" y="475701"/>
                  <a:pt x="1223207" y="475701"/>
                </a:cubicBezTo>
                <a:lnTo>
                  <a:pt x="19994" y="475701"/>
                </a:lnTo>
                <a:cubicBezTo>
                  <a:pt x="8951" y="475701"/>
                  <a:pt x="0" y="466750"/>
                  <a:pt x="0" y="455707"/>
                </a:cubicBezTo>
                <a:lnTo>
                  <a:pt x="0" y="19994"/>
                </a:lnTo>
                <a:cubicBezTo>
                  <a:pt x="0" y="8951"/>
                  <a:pt x="8951" y="0"/>
                  <a:pt x="19994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3221679" y="4695812"/>
            <a:ext cx="5042318" cy="78106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just">
              <a:lnSpc>
                <a:spcPct val="130000"/>
              </a:lnSpc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Cycle·Side·Session 구조 복원,</a:t>
            </a:r>
          </a:p>
          <a:p>
            <a:pPr algn="just">
              <a:lnSpc>
                <a:spcPct val="130000"/>
              </a:lnSpc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결측·중복·상수변수 점검</a:t>
            </a:r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3221679" y="4429112"/>
            <a:ext cx="5042318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Freeform 15"/>
          <p:cNvSpPr>
            <a:spLocks noGrp="1"/>
          </p:cNvSpPr>
          <p:nvPr/>
        </p:nvSpPr>
        <p:spPr>
          <a:xfrm>
            <a:off x="2272134" y="3729681"/>
            <a:ext cx="638568" cy="63856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algn="ctr">
              <a:lnSpc>
                <a:spcPts val="3179"/>
              </a:lnSpc>
              <a:buNone/>
              <a:defRPr/>
            </a:pPr>
            <a:r>
              <a:rPr sz="2200" b="1" spc="165">
                <a:solidFill>
                  <a:srgbClr val="FFFFFF"/>
                </a:solidFill>
                <a:latin typeface="Pretendard Medium"/>
                <a:ea typeface="Pretendard Medium"/>
                <a:cs typeface="Pretendard SemiBold"/>
              </a:rPr>
              <a:t>01</a:t>
            </a:r>
            <a:endParaRPr sz="2200">
              <a:latin typeface="Pretendard Medium"/>
              <a:ea typeface="Pretendard Medium"/>
              <a:cs typeface="Pretendard SemiBold"/>
            </a:endParaRPr>
          </a:p>
        </p:txBody>
      </p:sp>
      <p:sp>
        <p:nvSpPr>
          <p:cNvPr id="18" name="Freeform 18"/>
          <p:cNvSpPr>
            <a:spLocks noGrp="1"/>
          </p:cNvSpPr>
          <p:nvPr/>
        </p:nvSpPr>
        <p:spPr>
          <a:xfrm flipH="1">
            <a:off x="8084617" y="3900102"/>
            <a:ext cx="179380" cy="297726"/>
          </a:xfrm>
          <a:custGeom>
            <a:avLst/>
            <a:gdLst/>
            <a:ahLst/>
            <a:cxnLst/>
            <a:rect l="l" t="t" r="r" b="b"/>
            <a:pathLst>
              <a:path w="179380" h="297726">
                <a:moveTo>
                  <a:pt x="179380" y="0"/>
                </a:moveTo>
                <a:lnTo>
                  <a:pt x="0" y="0"/>
                </a:lnTo>
                <a:lnTo>
                  <a:pt x="0" y="297727"/>
                </a:lnTo>
                <a:lnTo>
                  <a:pt x="179380" y="297727"/>
                </a:lnTo>
                <a:lnTo>
                  <a:pt x="17938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2" name="직사각형 51"/>
          <p:cNvSpPr>
            <a:spLocks noGrp="1"/>
          </p:cNvSpPr>
          <p:nvPr/>
        </p:nvSpPr>
        <p:spPr>
          <a:xfrm>
            <a:off x="3221679" y="3807030"/>
            <a:ext cx="1717986" cy="486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600">
                <a:latin typeface="Pretendard SemiBold"/>
                <a:ea typeface="Pretendard SemiBold"/>
                <a:cs typeface="Pretendard SemiBold"/>
              </a:rPr>
              <a:t>데이터 진단</a:t>
            </a:r>
          </a:p>
        </p:txBody>
      </p:sp>
      <p:sp>
        <p:nvSpPr>
          <p:cNvPr id="55" name="Freeform 9"/>
          <p:cNvSpPr>
            <a:spLocks noGrp="1"/>
          </p:cNvSpPr>
          <p:nvPr/>
        </p:nvSpPr>
        <p:spPr>
          <a:xfrm>
            <a:off x="9374378" y="3282153"/>
            <a:ext cx="6969960" cy="2667000"/>
          </a:xfrm>
          <a:custGeom>
            <a:avLst/>
            <a:gdLst/>
            <a:ahLst/>
            <a:cxnLst/>
            <a:rect l="l" t="t" r="r" b="b"/>
            <a:pathLst>
              <a:path w="1243201" h="475701">
                <a:moveTo>
                  <a:pt x="19994" y="0"/>
                </a:moveTo>
                <a:lnTo>
                  <a:pt x="1223207" y="0"/>
                </a:lnTo>
                <a:cubicBezTo>
                  <a:pt x="1234250" y="0"/>
                  <a:pt x="1243201" y="8951"/>
                  <a:pt x="1243201" y="19994"/>
                </a:cubicBezTo>
                <a:lnTo>
                  <a:pt x="1243201" y="455707"/>
                </a:lnTo>
                <a:cubicBezTo>
                  <a:pt x="1243201" y="461010"/>
                  <a:pt x="1241095" y="466096"/>
                  <a:pt x="1237345" y="469845"/>
                </a:cubicBezTo>
                <a:cubicBezTo>
                  <a:pt x="1233596" y="473595"/>
                  <a:pt x="1228510" y="475701"/>
                  <a:pt x="1223207" y="475701"/>
                </a:cubicBezTo>
                <a:lnTo>
                  <a:pt x="19994" y="475701"/>
                </a:lnTo>
                <a:cubicBezTo>
                  <a:pt x="8951" y="475701"/>
                  <a:pt x="0" y="466750"/>
                  <a:pt x="0" y="455707"/>
                </a:cubicBezTo>
                <a:lnTo>
                  <a:pt x="0" y="19994"/>
                </a:lnTo>
                <a:cubicBezTo>
                  <a:pt x="0" y="8951"/>
                  <a:pt x="8951" y="0"/>
                  <a:pt x="19994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6" name="TextBox 12"/>
          <p:cNvSpPr>
            <a:spLocks noGrp="1"/>
          </p:cNvSpPr>
          <p:nvPr/>
        </p:nvSpPr>
        <p:spPr>
          <a:xfrm>
            <a:off x="10652394" y="4695812"/>
            <a:ext cx="5042319" cy="7620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950" b="0">
                <a:solidFill>
                  <a:srgbClr val="282828"/>
                </a:solidFill>
              </a:defRPr>
            </a:defPPr>
          </a:lstStyle>
          <a:p>
            <a:pPr algn="l">
              <a:lnSpc>
                <a:spcPct val="130000"/>
              </a:lnSpc>
              <a:buNone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CN7: 원본23+Side1+Roll5Mean23=47</a:t>
            </a:r>
          </a:p>
          <a:p>
            <a:pPr algn="l">
              <a:lnSpc>
                <a:spcPct val="130000"/>
              </a:lnSpc>
              <a:buNone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RG3: Absolute EWMA5 23개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7" name="AutoShape 13"/>
          <p:cNvSpPr>
            <a:spLocks noGrp="1"/>
          </p:cNvSpPr>
          <p:nvPr/>
        </p:nvSpPr>
        <p:spPr>
          <a:xfrm>
            <a:off x="10652395" y="4429112"/>
            <a:ext cx="5042318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8" name="Freeform 15"/>
          <p:cNvSpPr>
            <a:spLocks noGrp="1"/>
          </p:cNvSpPr>
          <p:nvPr/>
        </p:nvSpPr>
        <p:spPr>
          <a:xfrm>
            <a:off x="9702850" y="3729681"/>
            <a:ext cx="638568" cy="63856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algn="ctr">
              <a:lnSpc>
                <a:spcPts val="3179"/>
              </a:lnSpc>
              <a:buNone/>
              <a:defRPr/>
            </a:pPr>
            <a:r>
              <a:rPr sz="2200" b="1" spc="165">
                <a:solidFill>
                  <a:srgbClr val="FFFFFF"/>
                </a:solidFill>
                <a:latin typeface="Pretendard Medium"/>
                <a:ea typeface="Pretendard Medium"/>
                <a:cs typeface="Pretendard SemiBold"/>
              </a:rPr>
              <a:t>02</a:t>
            </a:r>
          </a:p>
        </p:txBody>
      </p:sp>
      <p:sp>
        <p:nvSpPr>
          <p:cNvPr id="59" name="Freeform 18"/>
          <p:cNvSpPr>
            <a:spLocks noGrp="1"/>
          </p:cNvSpPr>
          <p:nvPr/>
        </p:nvSpPr>
        <p:spPr>
          <a:xfrm flipH="1">
            <a:off x="15515333" y="3900102"/>
            <a:ext cx="179380" cy="297726"/>
          </a:xfrm>
          <a:custGeom>
            <a:avLst/>
            <a:gdLst/>
            <a:ahLst/>
            <a:cxnLst/>
            <a:rect l="l" t="t" r="r" b="b"/>
            <a:pathLst>
              <a:path w="179380" h="297726">
                <a:moveTo>
                  <a:pt x="179380" y="0"/>
                </a:moveTo>
                <a:lnTo>
                  <a:pt x="0" y="0"/>
                </a:lnTo>
                <a:lnTo>
                  <a:pt x="0" y="297727"/>
                </a:lnTo>
                <a:lnTo>
                  <a:pt x="179380" y="297727"/>
                </a:lnTo>
                <a:lnTo>
                  <a:pt x="17938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0" name="직사각형 59"/>
          <p:cNvSpPr>
            <a:spLocks noGrp="1"/>
          </p:cNvSpPr>
          <p:nvPr/>
        </p:nvSpPr>
        <p:spPr>
          <a:xfrm>
            <a:off x="10652394" y="3807030"/>
            <a:ext cx="3288395" cy="486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600">
                <a:latin typeface="Pretendard SemiBold"/>
                <a:ea typeface="Pretendard SemiBold"/>
                <a:cs typeface="Pretendard SemiBold"/>
              </a:rPr>
              <a:t>Feature Engineering</a:t>
            </a:r>
          </a:p>
        </p:txBody>
      </p:sp>
      <p:sp>
        <p:nvSpPr>
          <p:cNvPr id="62" name="Freeform 9"/>
          <p:cNvSpPr>
            <a:spLocks noGrp="1"/>
          </p:cNvSpPr>
          <p:nvPr/>
        </p:nvSpPr>
        <p:spPr>
          <a:xfrm>
            <a:off x="1943662" y="6286499"/>
            <a:ext cx="6969960" cy="2667000"/>
          </a:xfrm>
          <a:custGeom>
            <a:avLst/>
            <a:gdLst/>
            <a:ahLst/>
            <a:cxnLst/>
            <a:rect l="l" t="t" r="r" b="b"/>
            <a:pathLst>
              <a:path w="1243201" h="475701">
                <a:moveTo>
                  <a:pt x="19994" y="0"/>
                </a:moveTo>
                <a:lnTo>
                  <a:pt x="1223207" y="0"/>
                </a:lnTo>
                <a:cubicBezTo>
                  <a:pt x="1234250" y="0"/>
                  <a:pt x="1243201" y="8951"/>
                  <a:pt x="1243201" y="19994"/>
                </a:cubicBezTo>
                <a:lnTo>
                  <a:pt x="1243201" y="455707"/>
                </a:lnTo>
                <a:cubicBezTo>
                  <a:pt x="1243201" y="461010"/>
                  <a:pt x="1241095" y="466096"/>
                  <a:pt x="1237345" y="469845"/>
                </a:cubicBezTo>
                <a:cubicBezTo>
                  <a:pt x="1233596" y="473595"/>
                  <a:pt x="1228510" y="475701"/>
                  <a:pt x="1223207" y="475701"/>
                </a:cubicBezTo>
                <a:lnTo>
                  <a:pt x="19994" y="475701"/>
                </a:lnTo>
                <a:cubicBezTo>
                  <a:pt x="8951" y="475701"/>
                  <a:pt x="0" y="466750"/>
                  <a:pt x="0" y="455707"/>
                </a:cubicBezTo>
                <a:lnTo>
                  <a:pt x="0" y="19994"/>
                </a:lnTo>
                <a:cubicBezTo>
                  <a:pt x="0" y="8951"/>
                  <a:pt x="8951" y="0"/>
                  <a:pt x="19994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3" name="TextBox 12"/>
          <p:cNvSpPr>
            <a:spLocks noGrp="1"/>
          </p:cNvSpPr>
          <p:nvPr/>
        </p:nvSpPr>
        <p:spPr>
          <a:xfrm>
            <a:off x="3221678" y="7700158"/>
            <a:ext cx="5042319" cy="77266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950" b="0">
                <a:solidFill>
                  <a:srgbClr val="282828"/>
                </a:solidFill>
              </a:defRPr>
            </a:defPPr>
          </a:lstStyle>
          <a:p>
            <a:pPr algn="l">
              <a:lnSpc>
                <a:spcPct val="130000"/>
              </a:lnSpc>
              <a:buNone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CN7: 반복 Group-OOF·미래 시간검증</a:t>
            </a:r>
          </a:p>
          <a:p>
            <a:pPr algn="l">
              <a:lnSpc>
                <a:spcPct val="130000"/>
              </a:lnSpc>
              <a:buNone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RG3: Rolling·Final Holdout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4" name="AutoShape 13"/>
          <p:cNvSpPr>
            <a:spLocks noGrp="1"/>
          </p:cNvSpPr>
          <p:nvPr/>
        </p:nvSpPr>
        <p:spPr>
          <a:xfrm>
            <a:off x="3221679" y="7433458"/>
            <a:ext cx="5042318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5" name="Freeform 15"/>
          <p:cNvSpPr>
            <a:spLocks noGrp="1"/>
          </p:cNvSpPr>
          <p:nvPr/>
        </p:nvSpPr>
        <p:spPr>
          <a:xfrm>
            <a:off x="2272134" y="6734027"/>
            <a:ext cx="638568" cy="63856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algn="ctr">
              <a:lnSpc>
                <a:spcPts val="3179"/>
              </a:lnSpc>
              <a:buNone/>
              <a:defRPr/>
            </a:pPr>
            <a:r>
              <a:rPr sz="2200" b="1" spc="165">
                <a:solidFill>
                  <a:srgbClr val="FFFFFF"/>
                </a:solidFill>
                <a:latin typeface="Pretendard Medium"/>
                <a:ea typeface="Pretendard Medium"/>
                <a:cs typeface="Pretendard SemiBold"/>
              </a:rPr>
              <a:t>03</a:t>
            </a:r>
          </a:p>
        </p:txBody>
      </p:sp>
      <p:sp>
        <p:nvSpPr>
          <p:cNvPr id="66" name="Freeform 18"/>
          <p:cNvSpPr>
            <a:spLocks noGrp="1"/>
          </p:cNvSpPr>
          <p:nvPr/>
        </p:nvSpPr>
        <p:spPr>
          <a:xfrm flipH="1">
            <a:off x="8084617" y="6904448"/>
            <a:ext cx="179380" cy="297726"/>
          </a:xfrm>
          <a:custGeom>
            <a:avLst/>
            <a:gdLst/>
            <a:ahLst/>
            <a:cxnLst/>
            <a:rect l="l" t="t" r="r" b="b"/>
            <a:pathLst>
              <a:path w="179380" h="297726">
                <a:moveTo>
                  <a:pt x="179380" y="0"/>
                </a:moveTo>
                <a:lnTo>
                  <a:pt x="0" y="0"/>
                </a:lnTo>
                <a:lnTo>
                  <a:pt x="0" y="297727"/>
                </a:lnTo>
                <a:lnTo>
                  <a:pt x="179380" y="297727"/>
                </a:lnTo>
                <a:lnTo>
                  <a:pt x="17938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7" name="직사각형 66"/>
          <p:cNvSpPr>
            <a:spLocks noGrp="1"/>
          </p:cNvSpPr>
          <p:nvPr/>
        </p:nvSpPr>
        <p:spPr>
          <a:xfrm>
            <a:off x="3221678" y="6811376"/>
            <a:ext cx="1897184" cy="4838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600">
                <a:latin typeface="Pretendard SemiBold"/>
                <a:ea typeface="Pretendard SemiBold"/>
                <a:cs typeface="Pretendard SemiBold"/>
              </a:rPr>
              <a:t>모델링 · 검증</a:t>
            </a:r>
          </a:p>
        </p:txBody>
      </p:sp>
      <p:sp>
        <p:nvSpPr>
          <p:cNvPr id="69" name="Freeform 9"/>
          <p:cNvSpPr>
            <a:spLocks noGrp="1"/>
          </p:cNvSpPr>
          <p:nvPr/>
        </p:nvSpPr>
        <p:spPr>
          <a:xfrm>
            <a:off x="9374378" y="6286500"/>
            <a:ext cx="6969960" cy="2667000"/>
          </a:xfrm>
          <a:custGeom>
            <a:avLst/>
            <a:gdLst/>
            <a:ahLst/>
            <a:cxnLst/>
            <a:rect l="l" t="t" r="r" b="b"/>
            <a:pathLst>
              <a:path w="1243201" h="475701">
                <a:moveTo>
                  <a:pt x="19994" y="0"/>
                </a:moveTo>
                <a:lnTo>
                  <a:pt x="1223207" y="0"/>
                </a:lnTo>
                <a:cubicBezTo>
                  <a:pt x="1234250" y="0"/>
                  <a:pt x="1243201" y="8951"/>
                  <a:pt x="1243201" y="19994"/>
                </a:cubicBezTo>
                <a:lnTo>
                  <a:pt x="1243201" y="455707"/>
                </a:lnTo>
                <a:cubicBezTo>
                  <a:pt x="1243201" y="461010"/>
                  <a:pt x="1241095" y="466096"/>
                  <a:pt x="1237345" y="469845"/>
                </a:cubicBezTo>
                <a:cubicBezTo>
                  <a:pt x="1233596" y="473595"/>
                  <a:pt x="1228510" y="475701"/>
                  <a:pt x="1223207" y="475701"/>
                </a:cubicBezTo>
                <a:lnTo>
                  <a:pt x="19994" y="475701"/>
                </a:lnTo>
                <a:cubicBezTo>
                  <a:pt x="8951" y="475701"/>
                  <a:pt x="0" y="466750"/>
                  <a:pt x="0" y="455707"/>
                </a:cubicBezTo>
                <a:lnTo>
                  <a:pt x="0" y="19994"/>
                </a:lnTo>
                <a:cubicBezTo>
                  <a:pt x="0" y="8951"/>
                  <a:pt x="8951" y="0"/>
                  <a:pt x="19994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0" name="TextBox 12"/>
          <p:cNvSpPr>
            <a:spLocks noGrp="1"/>
          </p:cNvSpPr>
          <p:nvPr/>
        </p:nvSpPr>
        <p:spPr>
          <a:xfrm>
            <a:off x="10652394" y="7700159"/>
            <a:ext cx="5042320" cy="77266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950" b="0">
                <a:solidFill>
                  <a:srgbClr val="282828"/>
                </a:solidFill>
              </a:defRPr>
            </a:defPPr>
          </a:lstStyle>
          <a:p>
            <a:pPr algn="l">
              <a:lnSpc>
                <a:spcPct val="130000"/>
              </a:lnSpc>
              <a:buNone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CN7: SHAP·PCA-OOD 보완실험</a:t>
            </a:r>
          </a:p>
          <a:p>
            <a:pPr algn="l">
              <a:lnSpc>
                <a:spcPct val="130000"/>
              </a:lnSpc>
              <a:buNone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RG3: Risk Ranking·사후 Cycle 진단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1" name="AutoShape 13"/>
          <p:cNvSpPr>
            <a:spLocks noGrp="1"/>
          </p:cNvSpPr>
          <p:nvPr/>
        </p:nvSpPr>
        <p:spPr>
          <a:xfrm>
            <a:off x="10652395" y="7433459"/>
            <a:ext cx="5042318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2" name="Freeform 15"/>
          <p:cNvSpPr>
            <a:spLocks noGrp="1"/>
          </p:cNvSpPr>
          <p:nvPr/>
        </p:nvSpPr>
        <p:spPr>
          <a:xfrm>
            <a:off x="9702850" y="6734028"/>
            <a:ext cx="638568" cy="63856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algn="ctr">
              <a:lnSpc>
                <a:spcPts val="3179"/>
              </a:lnSpc>
              <a:buNone/>
              <a:defRPr/>
            </a:pPr>
            <a:r>
              <a:rPr sz="2200" b="1" spc="165">
                <a:solidFill>
                  <a:srgbClr val="FFFFFF"/>
                </a:solidFill>
                <a:latin typeface="Pretendard Medium"/>
                <a:ea typeface="Pretendard Medium"/>
                <a:cs typeface="Pretendard SemiBold"/>
              </a:rPr>
              <a:t>04</a:t>
            </a:r>
          </a:p>
        </p:txBody>
      </p:sp>
      <p:sp>
        <p:nvSpPr>
          <p:cNvPr id="73" name="Freeform 18"/>
          <p:cNvSpPr>
            <a:spLocks noGrp="1"/>
          </p:cNvSpPr>
          <p:nvPr/>
        </p:nvSpPr>
        <p:spPr>
          <a:xfrm flipH="1">
            <a:off x="15515333" y="6904449"/>
            <a:ext cx="179380" cy="297726"/>
          </a:xfrm>
          <a:custGeom>
            <a:avLst/>
            <a:gdLst/>
            <a:ahLst/>
            <a:cxnLst/>
            <a:rect l="l" t="t" r="r" b="b"/>
            <a:pathLst>
              <a:path w="179380" h="297726">
                <a:moveTo>
                  <a:pt x="179380" y="0"/>
                </a:moveTo>
                <a:lnTo>
                  <a:pt x="0" y="0"/>
                </a:lnTo>
                <a:lnTo>
                  <a:pt x="0" y="297727"/>
                </a:lnTo>
                <a:lnTo>
                  <a:pt x="179380" y="297727"/>
                </a:lnTo>
                <a:lnTo>
                  <a:pt x="17938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4" name="직사각형 73"/>
          <p:cNvSpPr>
            <a:spLocks noGrp="1"/>
          </p:cNvSpPr>
          <p:nvPr/>
        </p:nvSpPr>
        <p:spPr>
          <a:xfrm>
            <a:off x="10652394" y="6811377"/>
            <a:ext cx="2747249" cy="4838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600">
                <a:latin typeface="Pretendard SemiBold"/>
                <a:ea typeface="Pretendard SemiBold"/>
                <a:cs typeface="Pretendard SemiBold"/>
              </a:rPr>
              <a:t>오류분석 · 현장적용</a:t>
            </a:r>
          </a:p>
        </p:txBody>
      </p:sp>
      <p:sp>
        <p:nvSpPr>
          <p:cNvPr id="75" name="직사각형 74"/>
          <p:cNvSpPr>
            <a:spLocks noGrp="1"/>
          </p:cNvSpPr>
          <p:nvPr/>
        </p:nvSpPr>
        <p:spPr>
          <a:xfrm>
            <a:off x="914399" y="973455"/>
            <a:ext cx="1901191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02 CN7 모델 개발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 변수 설계 단계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01" name="FlowLine"/>
          <p:cNvSpPr>
            <a:spLocks noGrp="1"/>
          </p:cNvSpPr>
          <p:nvPr/>
        </p:nvSpPr>
        <p:spPr>
          <a:xfrm>
            <a:off x="4143746" y="5876500"/>
            <a:ext cx="10000507" cy="0"/>
          </a:xfrm>
          <a:prstGeom prst="line">
            <a:avLst/>
          </a:prstGeom>
          <a:ln w="12700" cap="flat">
            <a:solidFill>
              <a:srgbClr val="C7C7C7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02" name="Title302"/>
          <p:cNvSpPr>
            <a:spLocks noGrp="1"/>
          </p:cNvSpPr>
          <p:nvPr/>
        </p:nvSpPr>
        <p:spPr>
          <a:xfrm>
            <a:off x="2043662" y="4000500"/>
            <a:ext cx="3400169" cy="750000"/>
          </a:xfrm>
          <a:prstGeom prst="rect">
            <a:avLst/>
          </a:prstGeom>
        </p:spPr>
        <p:txBody>
          <a:bodyPr wrap="square" lIns="0" tIns="0" rIns="0" bIns="0" anchor="b"/>
          <a:lstStyle/>
          <a:p>
            <a:pPr algn="ctr">
              <a:lnSpc>
                <a:spcPts val="3200"/>
              </a:lnSpc>
              <a:buNone/>
              <a:defRPr/>
            </a:pPr>
            <a:r>
              <a:rPr sz="30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원본 변수 확보</a:t>
            </a:r>
          </a:p>
        </p:txBody>
      </p:sp>
      <p:sp>
        <p:nvSpPr>
          <p:cNvPr id="303" name="Node303"/>
          <p:cNvSpPr>
            <a:spLocks noGrp="1"/>
          </p:cNvSpPr>
          <p:nvPr/>
        </p:nvSpPr>
        <p:spPr>
          <a:xfrm>
            <a:off x="3333746" y="5466500"/>
            <a:ext cx="820000" cy="82000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  <a:defRPr/>
            </a:pPr>
            <a:r>
              <a:rPr sz="22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id="304" name="Desc304"/>
          <p:cNvSpPr>
            <a:spLocks noGrp="1"/>
          </p:cNvSpPr>
          <p:nvPr/>
        </p:nvSpPr>
        <p:spPr>
          <a:xfrm>
            <a:off x="2093662" y="6910500"/>
            <a:ext cx="3300169" cy="900000"/>
          </a:xfrm>
          <a:prstGeom prst="rect">
            <a:avLst/>
          </a:prstGeom>
        </p:spPr>
        <p:txBody>
          <a:bodyPr wrap="square" lIns="0" tIns="0" rIns="0" bIns="0" anchor="t"/>
          <a:lstStyle>
            <a:defPPr algn="ctr">
              <a:defRPr sz="1800" b="0">
                <a:solidFill>
                  <a:srgbClr val="6B6B6B"/>
                </a:solidFill>
              </a:defRPr>
            </a:defPPr>
          </a:lstStyle>
          <a:p>
            <a:pPr algn="ctr">
              <a:lnSpc>
                <a:spcPts val="2700"/>
              </a:lnSpc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원본 공정센서 23개</a:t>
            </a:r>
          </a:p>
          <a:p>
            <a:pPr algn="ctr">
              <a:lnSpc>
                <a:spcPts val="2700"/>
              </a:lnSpc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선정·정제</a:t>
            </a:r>
            <a:endParaRPr sz="1800">
              <a:solidFill>
                <a:srgbClr val="6B6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05" name="VSep305"/>
          <p:cNvSpPr>
            <a:spLocks noGrp="1"/>
          </p:cNvSpPr>
          <p:nvPr/>
        </p:nvSpPr>
        <p:spPr>
          <a:xfrm rot="5400000">
            <a:off x="2743831" y="5950000"/>
            <a:ext cx="560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306" name="Title306"/>
          <p:cNvSpPr>
            <a:spLocks noGrp="1"/>
          </p:cNvSpPr>
          <p:nvPr/>
        </p:nvSpPr>
        <p:spPr>
          <a:xfrm>
            <a:off x="5643831" y="4000500"/>
            <a:ext cx="3400169" cy="750000"/>
          </a:xfrm>
          <a:prstGeom prst="rect">
            <a:avLst/>
          </a:prstGeom>
        </p:spPr>
        <p:txBody>
          <a:bodyPr wrap="square" lIns="0" tIns="0" rIns="0" bIns="0" anchor="b"/>
          <a:lstStyle/>
          <a:p>
            <a:pPr algn="ctr">
              <a:lnSpc>
                <a:spcPts val="3200"/>
              </a:lnSpc>
              <a:buNone/>
              <a:defRPr/>
            </a:pPr>
            <a:r>
              <a:rPr sz="30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Side 변수 추가</a:t>
            </a:r>
          </a:p>
        </p:txBody>
      </p:sp>
      <p:sp>
        <p:nvSpPr>
          <p:cNvPr id="307" name="Node307"/>
          <p:cNvSpPr>
            <a:spLocks noGrp="1"/>
          </p:cNvSpPr>
          <p:nvPr/>
        </p:nvSpPr>
        <p:spPr>
          <a:xfrm>
            <a:off x="6933915" y="5466500"/>
            <a:ext cx="820000" cy="82000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  <a:defRPr/>
            </a:pPr>
            <a:r>
              <a:rPr sz="22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id="308" name="Desc308"/>
          <p:cNvSpPr>
            <a:spLocks noGrp="1"/>
          </p:cNvSpPr>
          <p:nvPr/>
        </p:nvSpPr>
        <p:spPr>
          <a:xfrm>
            <a:off x="5693831" y="6910500"/>
            <a:ext cx="3300169" cy="900000"/>
          </a:xfrm>
          <a:prstGeom prst="rect">
            <a:avLst/>
          </a:prstGeom>
        </p:spPr>
        <p:txBody>
          <a:bodyPr wrap="square" lIns="0" tIns="0" rIns="0" bIns="0" anchor="t"/>
          <a:lstStyle>
            <a:defPPr algn="ctr">
              <a:defRPr sz="1800" b="0">
                <a:solidFill>
                  <a:srgbClr val="6B6B6B"/>
                </a:solidFill>
              </a:defRPr>
            </a:defPPr>
          </a:lstStyle>
          <a:p>
            <a:pPr algn="ctr">
              <a:lnSpc>
                <a:spcPts val="2700"/>
              </a:lnSpc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Side_RH 1개 추가</a:t>
            </a:r>
          </a:p>
          <a:p>
            <a:pPr algn="ctr">
              <a:lnSpc>
                <a:spcPts val="2700"/>
              </a:lnSpc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위치별 패턴 반영</a:t>
            </a:r>
            <a:endParaRPr sz="1800">
              <a:solidFill>
                <a:srgbClr val="6B6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09" name="VSep309"/>
          <p:cNvSpPr>
            <a:spLocks noGrp="1"/>
          </p:cNvSpPr>
          <p:nvPr/>
        </p:nvSpPr>
        <p:spPr>
          <a:xfrm rot="5400000">
            <a:off x="6344000" y="5950000"/>
            <a:ext cx="560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310" name="Title310"/>
          <p:cNvSpPr>
            <a:spLocks noGrp="1"/>
          </p:cNvSpPr>
          <p:nvPr/>
        </p:nvSpPr>
        <p:spPr>
          <a:xfrm>
            <a:off x="9244000" y="4000500"/>
            <a:ext cx="3400169" cy="750000"/>
          </a:xfrm>
          <a:prstGeom prst="rect">
            <a:avLst/>
          </a:prstGeom>
        </p:spPr>
        <p:txBody>
          <a:bodyPr wrap="square" lIns="0" tIns="0" rIns="0" bIns="0" anchor="b"/>
          <a:lstStyle/>
          <a:p>
            <a:pPr algn="ctr">
              <a:lnSpc>
                <a:spcPts val="3200"/>
              </a:lnSpc>
              <a:buNone/>
              <a:defRPr/>
            </a:pPr>
            <a:r>
              <a:rPr sz="30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Roll5Mean</a:t>
            </a:r>
          </a:p>
        </p:txBody>
      </p:sp>
      <p:sp>
        <p:nvSpPr>
          <p:cNvPr id="311" name="Node311"/>
          <p:cNvSpPr>
            <a:spLocks noGrp="1"/>
          </p:cNvSpPr>
          <p:nvPr/>
        </p:nvSpPr>
        <p:spPr>
          <a:xfrm>
            <a:off x="10534084" y="5466500"/>
            <a:ext cx="820000" cy="82000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  <a:defRPr/>
            </a:pPr>
            <a:r>
              <a:rPr sz="22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sp>
        <p:nvSpPr>
          <p:cNvPr id="312" name="Desc312"/>
          <p:cNvSpPr>
            <a:spLocks noGrp="1"/>
          </p:cNvSpPr>
          <p:nvPr/>
        </p:nvSpPr>
        <p:spPr>
          <a:xfrm>
            <a:off x="9294000" y="6910500"/>
            <a:ext cx="3300169" cy="900000"/>
          </a:xfrm>
          <a:prstGeom prst="rect">
            <a:avLst/>
          </a:prstGeom>
        </p:spPr>
        <p:txBody>
          <a:bodyPr wrap="square" lIns="0" tIns="0" rIns="0" bIns="0" anchor="t"/>
          <a:lstStyle>
            <a:defPPr algn="ctr">
              <a:defRPr sz="1800" b="0">
                <a:solidFill>
                  <a:srgbClr val="6B6B6B"/>
                </a:solidFill>
              </a:defRPr>
            </a:defPPr>
          </a:lstStyle>
          <a:p>
            <a:pPr algn="ctr">
              <a:lnSpc>
                <a:spcPts val="2700"/>
              </a:lnSpc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직전 5 Cycle 평균 23개 추가</a:t>
            </a:r>
          </a:p>
          <a:p>
            <a:pPr algn="ctr">
              <a:lnSpc>
                <a:spcPts val="2700"/>
              </a:lnSpc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최종 47개 Feature</a:t>
            </a:r>
            <a:endParaRPr sz="1800">
              <a:solidFill>
                <a:srgbClr val="6B6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13" name="VSep313"/>
          <p:cNvSpPr>
            <a:spLocks noGrp="1"/>
          </p:cNvSpPr>
          <p:nvPr/>
        </p:nvSpPr>
        <p:spPr>
          <a:xfrm rot="5400000">
            <a:off x="9944169" y="5950000"/>
            <a:ext cx="560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314" name="Title314"/>
          <p:cNvSpPr>
            <a:spLocks noGrp="1"/>
          </p:cNvSpPr>
          <p:nvPr/>
        </p:nvSpPr>
        <p:spPr>
          <a:xfrm>
            <a:off x="12844169" y="4000500"/>
            <a:ext cx="3400169" cy="750000"/>
          </a:xfrm>
          <a:prstGeom prst="rect">
            <a:avLst/>
          </a:prstGeom>
        </p:spPr>
        <p:txBody>
          <a:bodyPr wrap="square" lIns="0" tIns="0" rIns="0" bIns="0" anchor="b"/>
          <a:lstStyle/>
          <a:p>
            <a:pPr algn="ctr">
              <a:lnSpc>
                <a:spcPts val="3200"/>
              </a:lnSpc>
              <a:buNone/>
              <a:defRPr/>
            </a:pPr>
            <a:r>
              <a:rPr sz="30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불균형 보정</a:t>
            </a:r>
          </a:p>
        </p:txBody>
      </p:sp>
      <p:sp>
        <p:nvSpPr>
          <p:cNvPr id="315" name="Node315"/>
          <p:cNvSpPr>
            <a:spLocks noGrp="1"/>
          </p:cNvSpPr>
          <p:nvPr/>
        </p:nvSpPr>
        <p:spPr>
          <a:xfrm>
            <a:off x="14134253" y="5466500"/>
            <a:ext cx="820000" cy="82000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  <a:defRPr/>
            </a:pPr>
            <a:r>
              <a:rPr sz="22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sp>
        <p:nvSpPr>
          <p:cNvPr id="316" name="Desc316"/>
          <p:cNvSpPr>
            <a:spLocks noGrp="1"/>
          </p:cNvSpPr>
          <p:nvPr/>
        </p:nvSpPr>
        <p:spPr>
          <a:xfrm>
            <a:off x="12894169" y="6910500"/>
            <a:ext cx="3300169" cy="9000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ts val="2700"/>
              </a:lnSpc>
              <a:buNone/>
              <a:defRPr/>
            </a:pPr>
            <a:r>
              <a:rPr sz="18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Class Weight 채택,</a:t>
            </a:r>
          </a:p>
          <a:p>
            <a:pPr algn="ctr">
              <a:lnSpc>
                <a:spcPts val="2700"/>
              </a:lnSpc>
              <a:buNone/>
              <a:defRPr/>
            </a:pPr>
            <a:r>
              <a:rPr sz="18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SMOTE·ROS는 검토 후 제외</a:t>
            </a:r>
          </a:p>
        </p:txBody>
      </p:sp>
      <p:sp>
        <p:nvSpPr>
          <p:cNvPr id="317" name="직사각형 316"/>
          <p:cNvSpPr>
            <a:spLocks noGrp="1"/>
          </p:cNvSpPr>
          <p:nvPr/>
        </p:nvSpPr>
        <p:spPr>
          <a:xfrm>
            <a:off x="914399" y="973455"/>
            <a:ext cx="1901191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02 CN7 모델 개발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모델 비교 및 최종 선정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9" name="Freeform 9"/>
          <p:cNvSpPr>
            <a:spLocks noGrp="1"/>
          </p:cNvSpPr>
          <p:nvPr/>
        </p:nvSpPr>
        <p:spPr>
          <a:xfrm>
            <a:off x="1943662" y="7156851"/>
            <a:ext cx="14400676" cy="1616165"/>
          </a:xfrm>
          <a:custGeom>
            <a:avLst/>
            <a:gdLst/>
            <a:ahLst/>
            <a:cxnLst/>
            <a:rect l="l" t="t" r="r" b="b"/>
            <a:pathLst>
              <a:path w="2645347" h="296883">
                <a:moveTo>
                  <a:pt x="9677" y="0"/>
                </a:moveTo>
                <a:lnTo>
                  <a:pt x="2635670" y="0"/>
                </a:lnTo>
                <a:cubicBezTo>
                  <a:pt x="2638236" y="0"/>
                  <a:pt x="2640698" y="1020"/>
                  <a:pt x="2642513" y="2834"/>
                </a:cubicBezTo>
                <a:cubicBezTo>
                  <a:pt x="2644327" y="4649"/>
                  <a:pt x="2645347" y="7110"/>
                  <a:pt x="2645347" y="9677"/>
                </a:cubicBezTo>
                <a:lnTo>
                  <a:pt x="2645347" y="287206"/>
                </a:lnTo>
                <a:cubicBezTo>
                  <a:pt x="2645347" y="292551"/>
                  <a:pt x="2641014" y="296883"/>
                  <a:pt x="2635670" y="296883"/>
                </a:cubicBezTo>
                <a:lnTo>
                  <a:pt x="9677" y="296883"/>
                </a:lnTo>
                <a:cubicBezTo>
                  <a:pt x="7110" y="296883"/>
                  <a:pt x="4649" y="295863"/>
                  <a:pt x="2834" y="294049"/>
                </a:cubicBezTo>
                <a:cubicBezTo>
                  <a:pt x="1020" y="292234"/>
                  <a:pt x="0" y="289773"/>
                  <a:pt x="0" y="287206"/>
                </a:cubicBezTo>
                <a:lnTo>
                  <a:pt x="0" y="9677"/>
                </a:lnTo>
                <a:cubicBezTo>
                  <a:pt x="0" y="4333"/>
                  <a:pt x="4333" y="0"/>
                  <a:pt x="9677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3190875" y="7700187"/>
            <a:ext cx="838199" cy="5294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73"/>
              </a:lnSpc>
              <a:spcBef>
                <a:spcPct val="0"/>
              </a:spcBef>
              <a:buNone/>
              <a:defRPr/>
            </a:pPr>
            <a:r>
              <a:rPr sz="2981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선정</a:t>
            </a:r>
          </a:p>
        </p:txBody>
      </p:sp>
      <p:sp>
        <p:nvSpPr>
          <p:cNvPr id="24" name="Freeform 24"/>
          <p:cNvSpPr>
            <a:spLocks noGrp="1"/>
          </p:cNvSpPr>
          <p:nvPr/>
        </p:nvSpPr>
        <p:spPr>
          <a:xfrm>
            <a:off x="2562730" y="7755064"/>
            <a:ext cx="378528" cy="419739"/>
          </a:xfrm>
          <a:custGeom>
            <a:avLst/>
            <a:gdLst/>
            <a:ahLst/>
            <a:cxnLst/>
            <a:rect l="l" t="t" r="r" b="b"/>
            <a:pathLst>
              <a:path w="378528" h="419739">
                <a:moveTo>
                  <a:pt x="0" y="0"/>
                </a:moveTo>
                <a:lnTo>
                  <a:pt x="378529" y="0"/>
                </a:lnTo>
                <a:lnTo>
                  <a:pt x="378529" y="419739"/>
                </a:lnTo>
                <a:lnTo>
                  <a:pt x="0" y="419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4724399" y="7760480"/>
            <a:ext cx="10889054" cy="40244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2100" b="0">
                <a:solidFill>
                  <a:srgbClr val="282828"/>
                </a:solidFill>
              </a:defRPr>
            </a:defPPr>
          </a:lstStyle>
          <a:p>
            <a:pPr marL="0" lvl="0" indent="0" algn="l">
              <a:lnSpc>
                <a:spcPts val="3161"/>
              </a:lnSpc>
              <a:buNone/>
              <a:defRPr sz="2100" b="0">
                <a:solidFill>
                  <a:srgbClr val="282828"/>
                </a:solidFill>
              </a:defRPr>
            </a:pPr>
            <a:r>
              <a:rPr sz="2200" b="0" u="none" strike="noStrike">
                <a:solidFill>
                  <a:srgbClr val="282828"/>
                </a:solidFill>
                <a:latin typeface="Pretendard Medium"/>
                <a:ea typeface="Pretendard Medium"/>
                <a:cs typeface="Pretendard"/>
              </a:rPr>
              <a:t>성능·안정성·해석가능성을 고려해 LightGBM을 채택하고, 최종 추론에 5개 모델 Ensemble 사용</a:t>
            </a:r>
            <a:endParaRPr sz="2200" u="none" strike="noStrike">
              <a:solidFill>
                <a:srgbClr val="282828"/>
              </a:solidFill>
              <a:latin typeface="Pretendard Medium"/>
              <a:ea typeface="Pretendard Medium"/>
              <a:cs typeface="Pretendard"/>
            </a:endParaRPr>
          </a:p>
        </p:txBody>
      </p:sp>
      <p:sp>
        <p:nvSpPr>
          <p:cNvPr id="26" name="AutoShape 26"/>
          <p:cNvSpPr>
            <a:spLocks noGrp="1"/>
          </p:cNvSpPr>
          <p:nvPr/>
        </p:nvSpPr>
        <p:spPr>
          <a:xfrm>
            <a:off x="4267200" y="7706341"/>
            <a:ext cx="0" cy="517185"/>
          </a:xfrm>
          <a:prstGeom prst="line">
            <a:avLst/>
          </a:prstGeom>
          <a:ln w="28575" cap="flat">
            <a:solidFill>
              <a:srgbClr val="282828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AutoShape 27"/>
          <p:cNvSpPr>
            <a:spLocks noGrp="1"/>
          </p:cNvSpPr>
          <p:nvPr/>
        </p:nvSpPr>
        <p:spPr>
          <a:xfrm>
            <a:off x="9144000" y="3727107"/>
            <a:ext cx="0" cy="2661335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2" name="Freeform 13"/>
          <p:cNvSpPr>
            <a:spLocks noGrp="1"/>
          </p:cNvSpPr>
          <p:nvPr/>
        </p:nvSpPr>
        <p:spPr>
          <a:xfrm>
            <a:off x="10632521" y="3651392"/>
            <a:ext cx="4338158" cy="641065"/>
          </a:xfrm>
          <a:custGeom>
            <a:avLst/>
            <a:gdLst/>
            <a:ahLst/>
            <a:cxnLst/>
            <a:rect l="l" t="t" r="r" b="b"/>
            <a:pathLst>
              <a:path w="5427367" h="802021">
                <a:moveTo>
                  <a:pt x="70939" y="0"/>
                </a:moveTo>
                <a:lnTo>
                  <a:pt x="5356428" y="0"/>
                </a:lnTo>
                <a:cubicBezTo>
                  <a:pt x="5375242" y="0"/>
                  <a:pt x="5393286" y="7474"/>
                  <a:pt x="5406589" y="20777"/>
                </a:cubicBezTo>
                <a:cubicBezTo>
                  <a:pt x="5419893" y="34081"/>
                  <a:pt x="5427367" y="52125"/>
                  <a:pt x="5427367" y="70939"/>
                </a:cubicBezTo>
                <a:lnTo>
                  <a:pt x="5427367" y="731082"/>
                </a:lnTo>
                <a:cubicBezTo>
                  <a:pt x="5427367" y="770260"/>
                  <a:pt x="5395606" y="802021"/>
                  <a:pt x="5356428" y="802021"/>
                </a:cubicBezTo>
                <a:lnTo>
                  <a:pt x="70939" y="802021"/>
                </a:lnTo>
                <a:cubicBezTo>
                  <a:pt x="52125" y="802021"/>
                  <a:pt x="34081" y="794547"/>
                  <a:pt x="20777" y="781243"/>
                </a:cubicBezTo>
                <a:cubicBezTo>
                  <a:pt x="7474" y="767940"/>
                  <a:pt x="0" y="749896"/>
                  <a:pt x="0" y="731082"/>
                </a:cubicBezTo>
                <a:lnTo>
                  <a:pt x="0" y="70939"/>
                </a:lnTo>
                <a:cubicBezTo>
                  <a:pt x="0" y="52125"/>
                  <a:pt x="7474" y="34081"/>
                  <a:pt x="20777" y="20777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282828"/>
          </a:solidFill>
          <a:ln cap="rnd">
            <a:noFill/>
            <a:prstDash val="solid"/>
            <a:round/>
          </a:ln>
        </p:spPr>
        <p:txBody>
          <a:bodyPr anchor="ctr"/>
          <a:lstStyle/>
          <a:p>
            <a:pPr algn="ctr">
              <a:lnSpc>
                <a:spcPts val="3110"/>
              </a:lnSpc>
              <a:buNone/>
              <a:defRPr/>
            </a:pPr>
            <a:r>
              <a:rPr sz="2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대안 모델 비교</a:t>
            </a:r>
          </a:p>
        </p:txBody>
      </p:sp>
      <p:sp>
        <p:nvSpPr>
          <p:cNvPr id="34" name="TextBox 21"/>
          <p:cNvSpPr>
            <a:spLocks noGrp="1"/>
          </p:cNvSpPr>
          <p:nvPr/>
        </p:nvSpPr>
        <p:spPr>
          <a:xfrm>
            <a:off x="10287000" y="4635486"/>
            <a:ext cx="5219700" cy="17830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950" b="0">
                <a:solidFill>
                  <a:srgbClr val="282828"/>
                </a:solidFill>
              </a:defRPr>
            </a:defPPr>
          </a:lstStyle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대안 모델은 별도 탐색실험으로 비교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CV 분할별 성능 변동 함께 확인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적은 불량 표본에서 과적합 주의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해석·안정성을 고려해 LightGBM 채택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6" name="Freeform 13"/>
          <p:cNvSpPr>
            <a:spLocks noGrp="1"/>
          </p:cNvSpPr>
          <p:nvPr/>
        </p:nvSpPr>
        <p:spPr>
          <a:xfrm>
            <a:off x="3317321" y="3652837"/>
            <a:ext cx="4338158" cy="641065"/>
          </a:xfrm>
          <a:custGeom>
            <a:avLst/>
            <a:gdLst/>
            <a:ahLst/>
            <a:cxnLst/>
            <a:rect l="l" t="t" r="r" b="b"/>
            <a:pathLst>
              <a:path w="5427367" h="802021">
                <a:moveTo>
                  <a:pt x="70939" y="0"/>
                </a:moveTo>
                <a:lnTo>
                  <a:pt x="5356428" y="0"/>
                </a:lnTo>
                <a:cubicBezTo>
                  <a:pt x="5375242" y="0"/>
                  <a:pt x="5393286" y="7474"/>
                  <a:pt x="5406589" y="20777"/>
                </a:cubicBezTo>
                <a:cubicBezTo>
                  <a:pt x="5419893" y="34081"/>
                  <a:pt x="5427367" y="52125"/>
                  <a:pt x="5427367" y="70939"/>
                </a:cubicBezTo>
                <a:lnTo>
                  <a:pt x="5427367" y="731082"/>
                </a:lnTo>
                <a:cubicBezTo>
                  <a:pt x="5427367" y="770260"/>
                  <a:pt x="5395606" y="802021"/>
                  <a:pt x="5356428" y="802021"/>
                </a:cubicBezTo>
                <a:lnTo>
                  <a:pt x="70939" y="802021"/>
                </a:lnTo>
                <a:cubicBezTo>
                  <a:pt x="52125" y="802021"/>
                  <a:pt x="34081" y="794547"/>
                  <a:pt x="20777" y="781243"/>
                </a:cubicBezTo>
                <a:cubicBezTo>
                  <a:pt x="7474" y="767940"/>
                  <a:pt x="0" y="749896"/>
                  <a:pt x="0" y="731082"/>
                </a:cubicBezTo>
                <a:lnTo>
                  <a:pt x="0" y="70939"/>
                </a:lnTo>
                <a:cubicBezTo>
                  <a:pt x="0" y="52125"/>
                  <a:pt x="7474" y="34081"/>
                  <a:pt x="20777" y="20777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282828"/>
          </a:solidFill>
          <a:ln cap="rnd">
            <a:noFill/>
            <a:prstDash val="solid"/>
            <a:round/>
          </a:ln>
        </p:spPr>
        <p:txBody>
          <a:bodyPr anchor="ctr"/>
          <a:lstStyle/>
          <a:p>
            <a:pPr algn="ctr">
              <a:lnSpc>
                <a:spcPts val="3110"/>
              </a:lnSpc>
              <a:buNone/>
              <a:defRPr/>
            </a:pPr>
            <a:r>
              <a:rPr sz="2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LightGBM(채택)</a:t>
            </a:r>
          </a:p>
        </p:txBody>
      </p:sp>
      <p:sp>
        <p:nvSpPr>
          <p:cNvPr id="37" name="TextBox 21"/>
          <p:cNvSpPr>
            <a:spLocks noGrp="1"/>
          </p:cNvSpPr>
          <p:nvPr/>
        </p:nvSpPr>
        <p:spPr>
          <a:xfrm>
            <a:off x="2971800" y="4636931"/>
            <a:ext cx="5067300" cy="17830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950" b="0">
                <a:solidFill>
                  <a:srgbClr val="282828"/>
                </a:solidFill>
              </a:defRPr>
            </a:defPPr>
          </a:lstStyle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최종 추론: 5개 모델 Seed Ensemble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내부 반복 Group-OOF: 0.8164±0.0181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5개 CV 분할 Seed의 평균±표준편차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SHAP로 변수의 예측 기여도 설명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9" name="직사각형 38"/>
          <p:cNvSpPr>
            <a:spLocks noGrp="1"/>
          </p:cNvSpPr>
          <p:nvPr/>
        </p:nvSpPr>
        <p:spPr>
          <a:xfrm>
            <a:off x="914399" y="973455"/>
            <a:ext cx="1901191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02 CN7 모델 개발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 내부 성능 및 검사정책</a:t>
            </a:r>
          </a:p>
        </p:txBody>
      </p:sp>
      <p:sp>
        <p:nvSpPr>
          <p:cNvPr id="56" name="직사각형 55"/>
          <p:cNvSpPr>
            <a:spLocks noGrp="1"/>
          </p:cNvSpPr>
          <p:nvPr/>
        </p:nvSpPr>
        <p:spPr>
          <a:xfrm>
            <a:off x="914399" y="973455"/>
            <a:ext cx="1901191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02 CN7 모델 개발</a:t>
            </a:r>
          </a:p>
        </p:txBody>
      </p:sp>
      <p:sp>
        <p:nvSpPr>
          <p:cNvPr id="57" name="검증 범위 및 설명"/>
          <p:cNvSpPr>
            <a:spLocks noGrp="1"/>
          </p:cNvSpPr>
          <p:nvPr/>
        </p:nvSpPr>
        <p:spPr>
          <a:xfrm>
            <a:off x="1943100" y="3133725"/>
            <a:ext cx="7810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250" b="1">
                <a:solidFill>
                  <a:srgbClr val="6B6B6B"/>
                </a:solidFill>
              </a:defRPr>
            </a:defPPr>
          </a:lstStyle>
          <a:p>
            <a:pPr algn="l">
              <a:defRPr sz="2250" b="1">
                <a:solidFill>
                  <a:srgbClr val="6B6B6B"/>
                </a:solidFill>
              </a:defRPr>
            </a:pPr>
            <a:r>
              <a:rPr sz="2250" b="1">
                <a:solidFill>
                  <a:srgbClr val="6B6B6B"/>
                </a:solidFill>
                <a:latin typeface="Pretendard Medium"/>
                <a:ea typeface="Pretendard Medium"/>
              </a:rPr>
              <a:t>내부 반복 Group-OOF PR-AUC</a:t>
            </a:r>
          </a:p>
        </p:txBody>
      </p:sp>
      <p:sp>
        <p:nvSpPr>
          <p:cNvPr id="58" name="검증 범위 및 설명"/>
          <p:cNvSpPr>
            <a:spLocks noGrp="1"/>
          </p:cNvSpPr>
          <p:nvPr/>
        </p:nvSpPr>
        <p:spPr>
          <a:xfrm>
            <a:off x="1943100" y="3733800"/>
            <a:ext cx="8382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950" b="1">
                <a:solidFill>
                  <a:srgbClr val="282828"/>
                </a:solidFill>
              </a:defRPr>
            </a:defPPr>
          </a:lstStyle>
          <a:p>
            <a:pPr algn="l">
              <a:defRPr sz="4950" b="1">
                <a:solidFill>
                  <a:srgbClr val="282828"/>
                </a:solidFill>
              </a:defRPr>
            </a:pPr>
            <a:r>
              <a:rPr sz="4950" b="1">
                <a:solidFill>
                  <a:srgbClr val="282828"/>
                </a:solidFill>
                <a:latin typeface="Pretendard Medium"/>
                <a:ea typeface="Pretendard Medium"/>
              </a:rPr>
              <a:t>0.8164 ± 0.0181</a:t>
            </a:r>
          </a:p>
        </p:txBody>
      </p:sp>
      <p:sp>
        <p:nvSpPr>
          <p:cNvPr id="59" name="검증 범위 및 설명"/>
          <p:cNvSpPr>
            <a:spLocks noGrp="1"/>
          </p:cNvSpPr>
          <p:nvPr/>
        </p:nvSpPr>
        <p:spPr>
          <a:xfrm>
            <a:off x="10477500" y="4095750"/>
            <a:ext cx="5857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6B6B6B"/>
                </a:solidFill>
              </a:defRPr>
            </a:defPPr>
          </a:lstStyle>
          <a:p>
            <a:pPr algn="l">
              <a:defRPr sz="1875" b="0">
                <a:solidFill>
                  <a:srgbClr val="6B6B6B"/>
                </a:solidFill>
              </a:defRPr>
            </a:pPr>
            <a:r>
              <a:rPr sz="1875" b="0">
                <a:solidFill>
                  <a:srgbClr val="6B6B6B"/>
                </a:solidFill>
                <a:latin typeface="Pretendard Medium"/>
                <a:ea typeface="Pretendard Medium"/>
              </a:rPr>
              <a:t>5개 CV 분할 Seed 평균±표준편차</a:t>
            </a:r>
          </a:p>
        </p:txBody>
      </p:sp>
      <p:sp>
        <p:nvSpPr>
          <p:cNvPr id="60" name="검증 범위 및 설명"/>
          <p:cNvSpPr>
            <a:spLocks noGrp="1"/>
          </p:cNvSpPr>
          <p:nvPr/>
        </p:nvSpPr>
        <p:spPr>
          <a:xfrm>
            <a:off x="1943100" y="4876800"/>
            <a:ext cx="14401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0">
                <a:solidFill>
                  <a:srgbClr val="6B6B6B"/>
                </a:solidFill>
              </a:defRPr>
            </a:defPPr>
          </a:lstStyle>
          <a:p>
            <a:pPr algn="l">
              <a:defRPr sz="2025" b="0">
                <a:solidFill>
                  <a:srgbClr val="6B6B6B"/>
                </a:solidFill>
              </a:defRPr>
            </a:pPr>
            <a:r>
              <a:rPr sz="2025" b="0">
                <a:solidFill>
                  <a:srgbClr val="6B6B6B"/>
                </a:solidFill>
                <a:latin typeface="Pretendard Medium"/>
                <a:ea typeface="Pretendard Medium"/>
              </a:rPr>
              <a:t>개발 데이터 1,211개 제품 행 · Ensemble OOF 정책 시뮬레이션</a:t>
            </a:r>
          </a:p>
        </p:txBody>
      </p:sp>
      <p:graphicFrame>
        <p:nvGraphicFramePr>
          <p:cNvPr id="61" name="표 60"/>
          <p:cNvGraphicFramePr/>
          <p:nvPr/>
        </p:nvGraphicFramePr>
        <p:xfrm>
          <a:off x="1943100" y="5543550"/>
          <a:ext cx="14401800" cy="2000250"/>
        </p:xfrm>
        <a:graphic>
          <a:graphicData uri="http://schemas.openxmlformats.org/drawingml/2006/table">
            <a:tbl>
              <a:tblPr firstRow="1" bandRow="1"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정책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Recall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TP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FP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FN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검사대상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검사율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Risk Only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66.67%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82.35%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21건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1.73%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Risk+Uncertainty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60.00%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88.24%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25건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25"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2.06%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" name="검증 범위 및 설명"/>
          <p:cNvSpPr>
            <a:spLocks noGrp="1"/>
          </p:cNvSpPr>
          <p:nvPr/>
        </p:nvSpPr>
        <p:spPr>
          <a:xfrm>
            <a:off x="1943100" y="7943850"/>
            <a:ext cx="14401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0">
                <a:solidFill>
                  <a:srgbClr val="282828"/>
                </a:solidFill>
              </a:defRPr>
            </a:defPPr>
          </a:lstStyle>
          <a:p>
            <a:pPr algn="l">
              <a:defRPr sz="2025" b="0">
                <a:solidFill>
                  <a:srgbClr val="282828"/>
                </a:solidFill>
              </a:defRPr>
            </a:pPr>
            <a:r>
              <a:rPr sz="2025" b="0">
                <a:solidFill>
                  <a:srgbClr val="282828"/>
                </a:solidFill>
                <a:latin typeface="Pretendard Medium"/>
                <a:ea typeface="Pretendard Medium"/>
              </a:rPr>
              <a:t>UC 추가: 불량 1건 추가 포착(FN 3→2), 검사 4건 증가(21→25), 오경보 3건 증가(FP 7→10)</a:t>
            </a:r>
          </a:p>
        </p:txBody>
      </p:sp>
      <p:sp>
        <p:nvSpPr>
          <p:cNvPr id="63" name="검증 범위 및 설명"/>
          <p:cNvSpPr>
            <a:spLocks noGrp="1"/>
          </p:cNvSpPr>
          <p:nvPr/>
        </p:nvSpPr>
        <p:spPr>
          <a:xfrm>
            <a:off x="1943100" y="8610600"/>
            <a:ext cx="14401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6B6B6B"/>
                </a:solidFill>
              </a:defRPr>
            </a:defPPr>
          </a:lstStyle>
          <a:p>
            <a:pPr algn="l">
              <a:defRPr sz="1875" b="0">
                <a:solidFill>
                  <a:srgbClr val="6B6B6B"/>
                </a:solidFill>
              </a:defRPr>
            </a:pPr>
            <a:r>
              <a:rPr sz="1875" b="0">
                <a:solidFill>
                  <a:srgbClr val="6B6B6B"/>
                </a:solidFill>
                <a:latin typeface="Pretendard Medium"/>
                <a:ea typeface="Pretendard Medium"/>
              </a:rPr>
              <a:t>내부 OOF 결과이며, 같은 검사율·Recall을 미래 생산에서 보장하지 않습니다.</a:t>
            </a:r>
          </a:p>
        </p:txBody>
      </p:sp>
      <p:sp>
        <p:nvSpPr>
          <p:cNvPr id="64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 SHAP · 주요 영향요인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01" name="Tx501"/>
          <p:cNvSpPr>
            <a:spLocks noGrp="1"/>
          </p:cNvSpPr>
          <p:nvPr/>
        </p:nvSpPr>
        <p:spPr>
          <a:xfrm>
            <a:off x="1943662" y="3086100"/>
            <a:ext cx="30000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900" b="1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Top · Roll5 평균</a:t>
            </a:r>
          </a:p>
        </p:txBody>
      </p:sp>
      <p:sp>
        <p:nvSpPr>
          <p:cNvPr id="502" name="Tx502"/>
          <p:cNvSpPr>
            <a:spLocks noGrp="1"/>
          </p:cNvSpPr>
          <p:nvPr/>
        </p:nvSpPr>
        <p:spPr>
          <a:xfrm>
            <a:off x="1943662" y="3695700"/>
            <a:ext cx="11000000" cy="5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Feature 유형별 SHAP 비중 — 최근 추세(Roll5Mean)가 핵심 기여</a:t>
            </a:r>
          </a:p>
        </p:txBody>
      </p:sp>
      <p:sp>
        <p:nvSpPr>
          <p:cNvPr id="503" name="Tx503"/>
          <p:cNvSpPr>
            <a:spLocks noGrp="1"/>
          </p:cNvSpPr>
          <p:nvPr/>
        </p:nvSpPr>
        <p:spPr>
          <a:xfrm>
            <a:off x="1943662" y="4533900"/>
            <a:ext cx="2050000" cy="42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Roll5Mean</a:t>
            </a:r>
          </a:p>
        </p:txBody>
      </p:sp>
      <p:sp>
        <p:nvSpPr>
          <p:cNvPr id="504" name="Track504"/>
          <p:cNvSpPr>
            <a:spLocks noGrp="1"/>
          </p:cNvSpPr>
          <p:nvPr/>
        </p:nvSpPr>
        <p:spPr>
          <a:xfrm>
            <a:off x="4143662" y="4533900"/>
            <a:ext cx="10650676" cy="420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05" name="Fill505"/>
          <p:cNvSpPr>
            <a:spLocks noGrp="1"/>
          </p:cNvSpPr>
          <p:nvPr/>
        </p:nvSpPr>
        <p:spPr>
          <a:xfrm>
            <a:off x="4143662" y="4533900"/>
            <a:ext cx="6374429" cy="420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06" name="Tx506"/>
          <p:cNvSpPr>
            <a:spLocks noGrp="1"/>
          </p:cNvSpPr>
          <p:nvPr/>
        </p:nvSpPr>
        <p:spPr>
          <a:xfrm>
            <a:off x="14944338" y="4533900"/>
            <a:ext cx="1400000" cy="420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r">
              <a:buNone/>
              <a:defRPr/>
            </a:pPr>
            <a:r>
              <a:rPr sz="20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59.85%</a:t>
            </a:r>
          </a:p>
        </p:txBody>
      </p:sp>
      <p:sp>
        <p:nvSpPr>
          <p:cNvPr id="507" name="Tx507"/>
          <p:cNvSpPr>
            <a:spLocks noGrp="1"/>
          </p:cNvSpPr>
          <p:nvPr/>
        </p:nvSpPr>
        <p:spPr>
          <a:xfrm>
            <a:off x="1943662" y="5233900"/>
            <a:ext cx="2050000" cy="42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Original</a:t>
            </a:r>
          </a:p>
        </p:txBody>
      </p:sp>
      <p:sp>
        <p:nvSpPr>
          <p:cNvPr id="508" name="Track508"/>
          <p:cNvSpPr>
            <a:spLocks noGrp="1"/>
          </p:cNvSpPr>
          <p:nvPr/>
        </p:nvSpPr>
        <p:spPr>
          <a:xfrm>
            <a:off x="4143662" y="5233900"/>
            <a:ext cx="10650676" cy="420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09" name="Fill509"/>
          <p:cNvSpPr>
            <a:spLocks noGrp="1"/>
          </p:cNvSpPr>
          <p:nvPr/>
        </p:nvSpPr>
        <p:spPr>
          <a:xfrm>
            <a:off x="4143662" y="5233900"/>
            <a:ext cx="3155795" cy="420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10" name="Tx510"/>
          <p:cNvSpPr>
            <a:spLocks noGrp="1"/>
          </p:cNvSpPr>
          <p:nvPr/>
        </p:nvSpPr>
        <p:spPr>
          <a:xfrm>
            <a:off x="14944338" y="5233900"/>
            <a:ext cx="1400000" cy="420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r">
              <a:buNone/>
              <a:defRPr/>
            </a:pPr>
            <a:r>
              <a:rPr sz="20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29.63%</a:t>
            </a:r>
          </a:p>
        </p:txBody>
      </p:sp>
      <p:sp>
        <p:nvSpPr>
          <p:cNvPr id="511" name="Tx511"/>
          <p:cNvSpPr>
            <a:spLocks noGrp="1"/>
          </p:cNvSpPr>
          <p:nvPr/>
        </p:nvSpPr>
        <p:spPr>
          <a:xfrm>
            <a:off x="1943662" y="5933900"/>
            <a:ext cx="2050000" cy="42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/>
            </a:pPr>
            <a:r>
              <a:rPr sz="200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Side</a:t>
            </a:r>
          </a:p>
        </p:txBody>
      </p:sp>
      <p:sp>
        <p:nvSpPr>
          <p:cNvPr id="512" name="Track512"/>
          <p:cNvSpPr>
            <a:spLocks noGrp="1"/>
          </p:cNvSpPr>
          <p:nvPr/>
        </p:nvSpPr>
        <p:spPr>
          <a:xfrm>
            <a:off x="4143662" y="5933900"/>
            <a:ext cx="10650676" cy="420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13" name="Fill513"/>
          <p:cNvSpPr>
            <a:spLocks noGrp="1"/>
          </p:cNvSpPr>
          <p:nvPr/>
        </p:nvSpPr>
        <p:spPr>
          <a:xfrm>
            <a:off x="4143662" y="5933900"/>
            <a:ext cx="1120451" cy="420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14" name="Tx514"/>
          <p:cNvSpPr>
            <a:spLocks noGrp="1"/>
          </p:cNvSpPr>
          <p:nvPr/>
        </p:nvSpPr>
        <p:spPr>
          <a:xfrm>
            <a:off x="14944338" y="5933900"/>
            <a:ext cx="1400000" cy="420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r">
              <a:buNone/>
              <a:defRPr/>
            </a:pPr>
            <a:r>
              <a:rPr sz="20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10.52%</a:t>
            </a:r>
          </a:p>
        </p:txBody>
      </p:sp>
      <p:sp>
        <p:nvSpPr>
          <p:cNvPr id="515" name="Line515"/>
          <p:cNvSpPr>
            <a:spLocks noGrp="1"/>
          </p:cNvSpPr>
          <p:nvPr/>
        </p:nvSpPr>
        <p:spPr>
          <a:xfrm>
            <a:off x="1943662" y="6896100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16" name="Tx516"/>
          <p:cNvSpPr>
            <a:spLocks noGrp="1"/>
          </p:cNvSpPr>
          <p:nvPr/>
        </p:nvSpPr>
        <p:spPr>
          <a:xfrm>
            <a:off x="1943662" y="7337100"/>
            <a:ext cx="6850338" cy="43262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2243" b="1">
                <a:solidFill>
                  <a:srgbClr val="282828"/>
                </a:solidFill>
              </a:defRPr>
            </a:defPPr>
          </a:lstStyle>
          <a:p>
            <a:pPr algn="l">
              <a:buNone/>
              <a:defRPr sz="2243" b="1">
                <a:solidFill>
                  <a:srgbClr val="282828"/>
                </a:solidFill>
              </a:defRPr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보조 · 별도 Ablation 실험</a:t>
            </a:r>
          </a:p>
        </p:txBody>
      </p:sp>
      <p:sp>
        <p:nvSpPr>
          <p:cNvPr id="517" name="Tx517"/>
          <p:cNvSpPr>
            <a:spLocks noGrp="1"/>
          </p:cNvSpPr>
          <p:nvPr/>
        </p:nvSpPr>
        <p:spPr>
          <a:xfrm>
            <a:off x="1943662" y="7897100"/>
            <a:ext cx="6850338" cy="90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75" b="0">
                <a:solidFill>
                  <a:srgbClr val="585858"/>
                </a:solidFill>
              </a:defRPr>
            </a:defPPr>
          </a:lstStyle>
          <a:p>
            <a:pPr algn="l">
              <a:lnSpc>
                <a:spcPct val="150000"/>
              </a:lnSpc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별도 탐색: Full 0.8157 → Side 제외 0.6509</a:t>
            </a: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Side 단독 0.0187 · 최종 반복 OOF와 다른 실행 기준</a:t>
            </a:r>
            <a:endParaRPr sz="19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18" name="Tx518"/>
          <p:cNvSpPr>
            <a:spLocks noGrp="1"/>
          </p:cNvSpPr>
          <p:nvPr/>
        </p:nvSpPr>
        <p:spPr>
          <a:xfrm>
            <a:off x="9494000" y="7337100"/>
            <a:ext cx="6850338" cy="43262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활용 · XAI 설명</a:t>
            </a:r>
          </a:p>
        </p:txBody>
      </p:sp>
      <p:sp>
        <p:nvSpPr>
          <p:cNvPr id="519" name="Tx519"/>
          <p:cNvSpPr>
            <a:spLocks noGrp="1"/>
          </p:cNvSpPr>
          <p:nvPr/>
        </p:nvSpPr>
        <p:spPr>
          <a:xfrm>
            <a:off x="9494000" y="7897100"/>
            <a:ext cx="6850338" cy="90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75" b="0">
                <a:solidFill>
                  <a:srgbClr val="585858"/>
                </a:solidFill>
              </a:defRPr>
            </a:defPPr>
          </a:lstStyle>
          <a:p>
            <a:pPr algn="l">
              <a:lnSpc>
                <a:spcPct val="150000"/>
              </a:lnSpc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SHAP로 개별 예측의 변수 기여도를 설명</a:t>
            </a:r>
          </a:p>
          <a:p>
            <a:pPr algn="l">
              <a:lnSpc>
                <a:spcPct val="150000"/>
              </a:lnSpc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예측 기여도이며 불량의 인과관계 증명은 아님</a:t>
            </a:r>
            <a:endParaRPr sz="19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20" name="VSep520"/>
          <p:cNvSpPr>
            <a:spLocks noGrp="1"/>
          </p:cNvSpPr>
          <p:nvPr/>
        </p:nvSpPr>
        <p:spPr>
          <a:xfrm rot="5400000">
            <a:off x="8369000" y="8102300"/>
            <a:ext cx="155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21" name="직사각형 520"/>
          <p:cNvSpPr>
            <a:spLocks noGrp="1"/>
          </p:cNvSpPr>
          <p:nvPr/>
        </p:nvSpPr>
        <p:spPr>
          <a:xfrm>
            <a:off x="914399" y="973455"/>
            <a:ext cx="1901191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02 CN7 모델 개발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 미래 E4·E5 성능 붕괴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5" name="Tx1002"/>
          <p:cNvSpPr>
            <a:spLocks noGrp="1"/>
          </p:cNvSpPr>
          <p:nvPr/>
        </p:nvSpPr>
        <p:spPr>
          <a:xfrm>
            <a:off x="1943662" y="3162300"/>
            <a:ext cx="6850338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47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E4 Episode</a:t>
            </a:r>
          </a:p>
        </p:txBody>
      </p:sp>
      <p:sp>
        <p:nvSpPr>
          <p:cNvPr id="76" name="Tx1003"/>
          <p:cNvSpPr>
            <a:spLocks noGrp="1"/>
          </p:cNvSpPr>
          <p:nvPr/>
        </p:nvSpPr>
        <p:spPr>
          <a:xfrm>
            <a:off x="1943662" y="3834700"/>
            <a:ext cx="6850338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8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2020-10-27 · 신규 Failure Regime</a:t>
            </a:r>
          </a:p>
        </p:txBody>
      </p:sp>
      <p:sp>
        <p:nvSpPr>
          <p:cNvPr id="77" name="Tx1004"/>
          <p:cNvSpPr>
            <a:spLocks noGrp="1"/>
          </p:cNvSpPr>
          <p:nvPr/>
        </p:nvSpPr>
        <p:spPr>
          <a:xfrm>
            <a:off x="1943662" y="4294700"/>
            <a:ext cx="6850338" cy="42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00" b="0">
                <a:solidFill>
                  <a:srgbClr val="6B6B6B"/>
                </a:solidFill>
              </a:defRPr>
            </a:defPPr>
          </a:lstStyle>
          <a:p>
            <a:pPr algn="l"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제품 행 628건 중 불량 10건</a:t>
            </a:r>
            <a:endParaRPr sz="1800">
              <a:solidFill>
                <a:srgbClr val="6B6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8" name="Tx1005"/>
          <p:cNvSpPr>
            <a:spLocks noGrp="1"/>
          </p:cNvSpPr>
          <p:nvPr/>
        </p:nvSpPr>
        <p:spPr>
          <a:xfrm>
            <a:off x="1943662" y="4914700"/>
            <a:ext cx="3325169" cy="9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44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0.1156</a:t>
            </a:r>
          </a:p>
        </p:txBody>
      </p:sp>
      <p:sp>
        <p:nvSpPr>
          <p:cNvPr id="79" name="Tx1006"/>
          <p:cNvSpPr>
            <a:spLocks noGrp="1"/>
          </p:cNvSpPr>
          <p:nvPr/>
        </p:nvSpPr>
        <p:spPr>
          <a:xfrm>
            <a:off x="1943662" y="5914700"/>
            <a:ext cx="3325169" cy="4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7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PR-AUC</a:t>
            </a:r>
          </a:p>
        </p:txBody>
      </p:sp>
      <p:sp>
        <p:nvSpPr>
          <p:cNvPr id="80" name="Tx1007"/>
          <p:cNvSpPr>
            <a:spLocks noGrp="1"/>
          </p:cNvSpPr>
          <p:nvPr/>
        </p:nvSpPr>
        <p:spPr>
          <a:xfrm>
            <a:off x="5368831" y="4914700"/>
            <a:ext cx="3425169" cy="9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44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0%</a:t>
            </a:r>
          </a:p>
        </p:txBody>
      </p:sp>
      <p:sp>
        <p:nvSpPr>
          <p:cNvPr id="81" name="Tx1008"/>
          <p:cNvSpPr>
            <a:spLocks noGrp="1"/>
          </p:cNvSpPr>
          <p:nvPr/>
        </p:nvSpPr>
        <p:spPr>
          <a:xfrm>
            <a:off x="5368831" y="5914700"/>
            <a:ext cx="3425169" cy="4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7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Recall</a:t>
            </a:r>
          </a:p>
        </p:txBody>
      </p:sp>
      <p:sp>
        <p:nvSpPr>
          <p:cNvPr id="82" name="Tx1009"/>
          <p:cNvSpPr>
            <a:spLocks noGrp="1"/>
          </p:cNvSpPr>
          <p:nvPr/>
        </p:nvSpPr>
        <p:spPr>
          <a:xfrm>
            <a:off x="9494000" y="3162300"/>
            <a:ext cx="6850338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47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E5 Episode</a:t>
            </a:r>
          </a:p>
        </p:txBody>
      </p:sp>
      <p:sp>
        <p:nvSpPr>
          <p:cNvPr id="83" name="Tx1010"/>
          <p:cNvSpPr>
            <a:spLocks noGrp="1"/>
          </p:cNvSpPr>
          <p:nvPr/>
        </p:nvSpPr>
        <p:spPr>
          <a:xfrm>
            <a:off x="9494000" y="3834700"/>
            <a:ext cx="6850338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8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2020-11-03 · 정상과 겹치는 Hard Defect</a:t>
            </a:r>
          </a:p>
        </p:txBody>
      </p:sp>
      <p:sp>
        <p:nvSpPr>
          <p:cNvPr id="84" name="Tx1011"/>
          <p:cNvSpPr>
            <a:spLocks noGrp="1"/>
          </p:cNvSpPr>
          <p:nvPr/>
        </p:nvSpPr>
        <p:spPr>
          <a:xfrm>
            <a:off x="9494000" y="4294700"/>
            <a:ext cx="6850338" cy="42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00" b="0">
                <a:solidFill>
                  <a:srgbClr val="6B6B6B"/>
                </a:solidFill>
              </a:defRPr>
            </a:defPPr>
          </a:lstStyle>
          <a:p>
            <a:pPr algn="l"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제품 행 926건 중 불량 1건</a:t>
            </a:r>
            <a:endParaRPr sz="1800">
              <a:solidFill>
                <a:srgbClr val="6B6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5" name="Tx1012"/>
          <p:cNvSpPr>
            <a:spLocks noGrp="1"/>
          </p:cNvSpPr>
          <p:nvPr/>
        </p:nvSpPr>
        <p:spPr>
          <a:xfrm>
            <a:off x="9494000" y="4914700"/>
            <a:ext cx="3325169" cy="9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44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0.0147</a:t>
            </a:r>
          </a:p>
        </p:txBody>
      </p:sp>
      <p:sp>
        <p:nvSpPr>
          <p:cNvPr id="86" name="Tx1013"/>
          <p:cNvSpPr>
            <a:spLocks noGrp="1"/>
          </p:cNvSpPr>
          <p:nvPr/>
        </p:nvSpPr>
        <p:spPr>
          <a:xfrm>
            <a:off x="9494000" y="5914700"/>
            <a:ext cx="3325169" cy="4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7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PR-AUC</a:t>
            </a:r>
          </a:p>
        </p:txBody>
      </p:sp>
      <p:sp>
        <p:nvSpPr>
          <p:cNvPr id="87" name="Tx1014"/>
          <p:cNvSpPr>
            <a:spLocks noGrp="1"/>
          </p:cNvSpPr>
          <p:nvPr/>
        </p:nvSpPr>
        <p:spPr>
          <a:xfrm>
            <a:off x="12919169" y="4914700"/>
            <a:ext cx="3425169" cy="9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44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0%</a:t>
            </a:r>
          </a:p>
        </p:txBody>
      </p:sp>
      <p:sp>
        <p:nvSpPr>
          <p:cNvPr id="88" name="Tx1015"/>
          <p:cNvSpPr>
            <a:spLocks noGrp="1"/>
          </p:cNvSpPr>
          <p:nvPr/>
        </p:nvSpPr>
        <p:spPr>
          <a:xfrm>
            <a:off x="12919169" y="5914700"/>
            <a:ext cx="3425169" cy="4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7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Recall</a:t>
            </a:r>
          </a:p>
        </p:txBody>
      </p:sp>
      <p:sp>
        <p:nvSpPr>
          <p:cNvPr id="89" name="VL1016"/>
          <p:cNvSpPr>
            <a:spLocks noGrp="1"/>
          </p:cNvSpPr>
          <p:nvPr/>
        </p:nvSpPr>
        <p:spPr>
          <a:xfrm rot="5400000">
            <a:off x="7644000" y="4776600"/>
            <a:ext cx="300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0" name="HL1017"/>
          <p:cNvSpPr>
            <a:spLocks noGrp="1"/>
          </p:cNvSpPr>
          <p:nvPr/>
        </p:nvSpPr>
        <p:spPr>
          <a:xfrm>
            <a:off x="1943662" y="6795900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1" name="Tx1018"/>
          <p:cNvSpPr>
            <a:spLocks noGrp="1"/>
          </p:cNvSpPr>
          <p:nvPr/>
        </p:nvSpPr>
        <p:spPr>
          <a:xfrm>
            <a:off x="1943662" y="7302100"/>
            <a:ext cx="6850338" cy="43262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원인 분석</a:t>
            </a:r>
          </a:p>
        </p:txBody>
      </p:sp>
      <p:sp>
        <p:nvSpPr>
          <p:cNvPr id="92" name="Tx1019"/>
          <p:cNvSpPr>
            <a:spLocks noGrp="1"/>
          </p:cNvSpPr>
          <p:nvPr/>
        </p:nvSpPr>
        <p:spPr>
          <a:xfrm>
            <a:off x="1943662" y="7862100"/>
            <a:ext cx="6850338" cy="965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E3-E4 패턴 상관계수 -0.5566,</a:t>
            </a:r>
          </a:p>
          <a:p>
            <a:pPr algn="l">
              <a:lnSpc>
                <a:spcPct val="150000"/>
              </a:lnSpc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학습 구간에 없던 신규 공정패턴으로 식별 한계</a:t>
            </a:r>
          </a:p>
        </p:txBody>
      </p:sp>
      <p:sp>
        <p:nvSpPr>
          <p:cNvPr id="93" name="Tx1020"/>
          <p:cNvSpPr>
            <a:spLocks noGrp="1"/>
          </p:cNvSpPr>
          <p:nvPr/>
        </p:nvSpPr>
        <p:spPr>
          <a:xfrm>
            <a:off x="9494000" y="7302100"/>
            <a:ext cx="6850338" cy="43262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선행신호 검정</a:t>
            </a:r>
          </a:p>
        </p:txBody>
      </p:sp>
      <p:sp>
        <p:nvSpPr>
          <p:cNvPr id="94" name="Tx1021"/>
          <p:cNvSpPr>
            <a:spLocks noGrp="1"/>
          </p:cNvSpPr>
          <p:nvPr/>
        </p:nvSpPr>
        <p:spPr>
          <a:xfrm>
            <a:off x="9494000" y="7862100"/>
            <a:ext cx="6850338" cy="8888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950" b="0">
                <a:solidFill>
                  <a:srgbClr val="585858"/>
                </a:solidFill>
              </a:defRPr>
            </a:defPPr>
          </a:lstStyle>
          <a:p>
            <a:pPr algn="l">
              <a:lnSpc>
                <a:spcPct val="15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검토한 센서·시간창에서 선행신호 미확인</a:t>
            </a:r>
          </a:p>
          <a:p>
            <a:pPr algn="l">
              <a:lnSpc>
                <a:spcPct val="15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→ 실패분석 후 PCA-OOD 보완실험</a:t>
            </a:r>
            <a:endParaRPr sz="19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5" name="VL1022"/>
          <p:cNvSpPr>
            <a:spLocks noGrp="1"/>
          </p:cNvSpPr>
          <p:nvPr/>
        </p:nvSpPr>
        <p:spPr>
          <a:xfrm rot="5400000">
            <a:off x="8369000" y="8052100"/>
            <a:ext cx="155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8" name="직사각형 97"/>
          <p:cNvSpPr>
            <a:spLocks noGrp="1"/>
          </p:cNvSpPr>
          <p:nvPr/>
        </p:nvSpPr>
        <p:spPr>
          <a:xfrm>
            <a:off x="914398" y="973455"/>
            <a:ext cx="2891792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03 CN7 오류분석과 안전장치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 Failure Regime 분석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5" name="Tx1002"/>
          <p:cNvSpPr>
            <a:spLocks noGrp="1"/>
          </p:cNvSpPr>
          <p:nvPr/>
        </p:nvSpPr>
        <p:spPr>
          <a:xfrm>
            <a:off x="1943662" y="3111100"/>
            <a:ext cx="6850338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47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E1~E3 유사성</a:t>
            </a:r>
          </a:p>
        </p:txBody>
      </p:sp>
      <p:sp>
        <p:nvSpPr>
          <p:cNvPr id="56" name="Tx1003"/>
          <p:cNvSpPr>
            <a:spLocks noGrp="1"/>
          </p:cNvSpPr>
          <p:nvPr/>
        </p:nvSpPr>
        <p:spPr>
          <a:xfrm>
            <a:off x="1943662" y="3631100"/>
            <a:ext cx="6850338" cy="978999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Z-score 기준 Mean|Z| 0.51~0.63로 유사,</a:t>
            </a:r>
          </a:p>
          <a:p>
            <a:pPr algn="l">
              <a:lnSpc>
                <a:spcPct val="150000"/>
              </a:lnSpc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E1-E2 상관계수 0.912</a:t>
            </a:r>
          </a:p>
        </p:txBody>
      </p:sp>
      <p:sp>
        <p:nvSpPr>
          <p:cNvPr id="57" name="Tx1004"/>
          <p:cNvSpPr>
            <a:spLocks noGrp="1"/>
          </p:cNvSpPr>
          <p:nvPr/>
        </p:nvSpPr>
        <p:spPr>
          <a:xfrm>
            <a:off x="9494000" y="3111100"/>
            <a:ext cx="6850338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47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E4 이질성</a:t>
            </a:r>
          </a:p>
        </p:txBody>
      </p:sp>
      <p:sp>
        <p:nvSpPr>
          <p:cNvPr id="58" name="Tx1005"/>
          <p:cNvSpPr>
            <a:spLocks noGrp="1"/>
          </p:cNvSpPr>
          <p:nvPr/>
        </p:nvSpPr>
        <p:spPr>
          <a:xfrm>
            <a:off x="9494000" y="3631100"/>
            <a:ext cx="6850338" cy="979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E3-E4 상관계수 -0.5566,Z-score 거리 28.243로</a:t>
            </a:r>
          </a:p>
          <a:p>
            <a:pPr algn="l">
              <a:lnSpc>
                <a:spcPct val="150000"/>
              </a:lnSpc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전혀 다른 공정패턴</a:t>
            </a:r>
          </a:p>
        </p:txBody>
      </p:sp>
      <p:sp>
        <p:nvSpPr>
          <p:cNvPr id="59" name="VL1006"/>
          <p:cNvSpPr>
            <a:spLocks noGrp="1"/>
          </p:cNvSpPr>
          <p:nvPr/>
        </p:nvSpPr>
        <p:spPr>
          <a:xfrm rot="5400000">
            <a:off x="8369000" y="3861100"/>
            <a:ext cx="155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0" name="HL1007"/>
          <p:cNvSpPr>
            <a:spLocks noGrp="1"/>
          </p:cNvSpPr>
          <p:nvPr/>
        </p:nvSpPr>
        <p:spPr>
          <a:xfrm>
            <a:off x="1943662" y="4863580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1" name="Tx1008"/>
          <p:cNvSpPr>
            <a:spLocks noGrp="1"/>
          </p:cNvSpPr>
          <p:nvPr/>
        </p:nvSpPr>
        <p:spPr>
          <a:xfrm>
            <a:off x="1943662" y="5219700"/>
            <a:ext cx="60000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0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E4 주요 변화 (σ, 정상 대비 표준편차)</a:t>
            </a:r>
          </a:p>
        </p:txBody>
      </p:sp>
      <p:sp>
        <p:nvSpPr>
          <p:cNvPr id="62" name="VL1009"/>
          <p:cNvSpPr>
            <a:spLocks noGrp="1"/>
          </p:cNvSpPr>
          <p:nvPr/>
        </p:nvSpPr>
        <p:spPr>
          <a:xfrm rot="5400000">
            <a:off x="8089001" y="6858540"/>
            <a:ext cx="224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3" name="Tx1010"/>
          <p:cNvSpPr>
            <a:spLocks noGrp="1"/>
          </p:cNvSpPr>
          <p:nvPr/>
        </p:nvSpPr>
        <p:spPr>
          <a:xfrm>
            <a:off x="2008663" y="5838540"/>
            <a:ext cx="6650338" cy="56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Filling_Time</a:t>
            </a:r>
          </a:p>
        </p:txBody>
      </p:sp>
      <p:sp>
        <p:nvSpPr>
          <p:cNvPr id="64" name="Rect1011"/>
          <p:cNvSpPr>
            <a:spLocks noGrp="1"/>
          </p:cNvSpPr>
          <p:nvPr/>
        </p:nvSpPr>
        <p:spPr>
          <a:xfrm>
            <a:off x="9209001" y="5838540"/>
            <a:ext cx="4482399" cy="560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5" name="Tx1012"/>
          <p:cNvSpPr>
            <a:spLocks noGrp="1"/>
          </p:cNvSpPr>
          <p:nvPr/>
        </p:nvSpPr>
        <p:spPr>
          <a:xfrm>
            <a:off x="13811400" y="5838540"/>
            <a:ext cx="1200000" cy="560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l">
              <a:buNone/>
              <a:defRPr/>
            </a:pPr>
            <a:r>
              <a:rPr sz="19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+17.24σ</a:t>
            </a:r>
          </a:p>
        </p:txBody>
      </p:sp>
      <p:sp>
        <p:nvSpPr>
          <p:cNvPr id="66" name="Tx1013"/>
          <p:cNvSpPr>
            <a:spLocks noGrp="1"/>
          </p:cNvSpPr>
          <p:nvPr/>
        </p:nvSpPr>
        <p:spPr>
          <a:xfrm>
            <a:off x="2008663" y="6518540"/>
            <a:ext cx="6650338" cy="56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Max_Injection_Speed</a:t>
            </a:r>
          </a:p>
        </p:txBody>
      </p:sp>
      <p:sp>
        <p:nvSpPr>
          <p:cNvPr id="67" name="Rect1014"/>
          <p:cNvSpPr>
            <a:spLocks noGrp="1"/>
          </p:cNvSpPr>
          <p:nvPr/>
        </p:nvSpPr>
        <p:spPr>
          <a:xfrm>
            <a:off x="6276201" y="6518540"/>
            <a:ext cx="2932800" cy="5600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8" name="Tx1015"/>
          <p:cNvSpPr>
            <a:spLocks noGrp="1"/>
          </p:cNvSpPr>
          <p:nvPr/>
        </p:nvSpPr>
        <p:spPr>
          <a:xfrm>
            <a:off x="4976201" y="6518540"/>
            <a:ext cx="1180000" cy="560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r">
              <a:buNone/>
              <a:defRPr/>
            </a:pPr>
            <a:r>
              <a:rPr sz="19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-11.28σ</a:t>
            </a:r>
          </a:p>
        </p:txBody>
      </p:sp>
      <p:sp>
        <p:nvSpPr>
          <p:cNvPr id="69" name="Tx1016"/>
          <p:cNvSpPr>
            <a:spLocks noGrp="1"/>
          </p:cNvSpPr>
          <p:nvPr/>
        </p:nvSpPr>
        <p:spPr>
          <a:xfrm>
            <a:off x="2008663" y="7198540"/>
            <a:ext cx="6650338" cy="56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Injection_Time</a:t>
            </a:r>
          </a:p>
        </p:txBody>
      </p:sp>
      <p:sp>
        <p:nvSpPr>
          <p:cNvPr id="70" name="Rect1017"/>
          <p:cNvSpPr>
            <a:spLocks noGrp="1"/>
          </p:cNvSpPr>
          <p:nvPr/>
        </p:nvSpPr>
        <p:spPr>
          <a:xfrm>
            <a:off x="9209001" y="7198540"/>
            <a:ext cx="2704000" cy="560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1" name="Tx1018"/>
          <p:cNvSpPr>
            <a:spLocks noGrp="1"/>
          </p:cNvSpPr>
          <p:nvPr/>
        </p:nvSpPr>
        <p:spPr>
          <a:xfrm>
            <a:off x="12033001" y="7198540"/>
            <a:ext cx="1200000" cy="56000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l">
              <a:buNone/>
              <a:defRPr/>
            </a:pPr>
            <a:r>
              <a:rPr sz="19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+10.40σ</a:t>
            </a:r>
          </a:p>
        </p:txBody>
      </p:sp>
      <p:sp>
        <p:nvSpPr>
          <p:cNvPr id="72" name="HL1019"/>
          <p:cNvSpPr>
            <a:spLocks noGrp="1"/>
          </p:cNvSpPr>
          <p:nvPr/>
        </p:nvSpPr>
        <p:spPr>
          <a:xfrm>
            <a:off x="1943662" y="8191500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3" name="Tx1020"/>
          <p:cNvSpPr>
            <a:spLocks noGrp="1"/>
          </p:cNvSpPr>
          <p:nvPr/>
        </p:nvSpPr>
        <p:spPr>
          <a:xfrm>
            <a:off x="1943662" y="8433500"/>
            <a:ext cx="2200000" cy="43262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해석</a:t>
            </a:r>
          </a:p>
        </p:txBody>
      </p:sp>
      <p:sp>
        <p:nvSpPr>
          <p:cNvPr id="74" name="Tx1021"/>
          <p:cNvSpPr>
            <a:spLocks noGrp="1"/>
          </p:cNvSpPr>
          <p:nvPr/>
        </p:nvSpPr>
        <p:spPr>
          <a:xfrm>
            <a:off x="4143662" y="8453500"/>
            <a:ext cx="12200676" cy="5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0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단일 센서 임계값이 아닌 다변량 공정이상으로, 신규 Failure Regime에 대한 별도 안전장치가 필요함</a:t>
            </a:r>
          </a:p>
        </p:txBody>
      </p:sp>
      <p:sp>
        <p:nvSpPr>
          <p:cNvPr id="80" name="직사각형 79"/>
          <p:cNvSpPr>
            <a:spLocks noGrp="1"/>
          </p:cNvSpPr>
          <p:nvPr/>
        </p:nvSpPr>
        <p:spPr>
          <a:xfrm>
            <a:off x="914398" y="973455"/>
            <a:ext cx="2891792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03 CN7 오류분석과 안전장치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 PCA-OOD 설계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9" name="Freeform 9"/>
          <p:cNvSpPr>
            <a:spLocks noGrp="1"/>
          </p:cNvSpPr>
          <p:nvPr/>
        </p:nvSpPr>
        <p:spPr>
          <a:xfrm>
            <a:off x="1943662" y="7156851"/>
            <a:ext cx="14400676" cy="1616165"/>
          </a:xfrm>
          <a:custGeom>
            <a:avLst/>
            <a:gdLst/>
            <a:ahLst/>
            <a:cxnLst/>
            <a:rect l="l" t="t" r="r" b="b"/>
            <a:pathLst>
              <a:path w="2645347" h="296883">
                <a:moveTo>
                  <a:pt x="9677" y="0"/>
                </a:moveTo>
                <a:lnTo>
                  <a:pt x="2635670" y="0"/>
                </a:lnTo>
                <a:cubicBezTo>
                  <a:pt x="2638236" y="0"/>
                  <a:pt x="2640698" y="1020"/>
                  <a:pt x="2642513" y="2834"/>
                </a:cubicBezTo>
                <a:cubicBezTo>
                  <a:pt x="2644327" y="4649"/>
                  <a:pt x="2645347" y="7110"/>
                  <a:pt x="2645347" y="9677"/>
                </a:cubicBezTo>
                <a:lnTo>
                  <a:pt x="2645347" y="287206"/>
                </a:lnTo>
                <a:cubicBezTo>
                  <a:pt x="2645347" y="292551"/>
                  <a:pt x="2641014" y="296883"/>
                  <a:pt x="2635670" y="296883"/>
                </a:cubicBezTo>
                <a:lnTo>
                  <a:pt x="9677" y="296883"/>
                </a:lnTo>
                <a:cubicBezTo>
                  <a:pt x="7110" y="296883"/>
                  <a:pt x="4649" y="295863"/>
                  <a:pt x="2834" y="294049"/>
                </a:cubicBezTo>
                <a:cubicBezTo>
                  <a:pt x="1020" y="292234"/>
                  <a:pt x="0" y="289773"/>
                  <a:pt x="0" y="287206"/>
                </a:cubicBezTo>
                <a:lnTo>
                  <a:pt x="0" y="9677"/>
                </a:lnTo>
                <a:cubicBezTo>
                  <a:pt x="0" y="4333"/>
                  <a:pt x="4333" y="0"/>
                  <a:pt x="9677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3276600" y="7700247"/>
            <a:ext cx="1524000" cy="5293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73"/>
              </a:lnSpc>
              <a:spcBef>
                <a:spcPct val="0"/>
              </a:spcBef>
              <a:buNone/>
              <a:defRPr/>
            </a:pPr>
            <a:r>
              <a:rPr sz="2981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설계 원칙</a:t>
            </a:r>
          </a:p>
        </p:txBody>
      </p:sp>
      <p:sp>
        <p:nvSpPr>
          <p:cNvPr id="24" name="Freeform 24"/>
          <p:cNvSpPr>
            <a:spLocks noGrp="1"/>
          </p:cNvSpPr>
          <p:nvPr/>
        </p:nvSpPr>
        <p:spPr>
          <a:xfrm>
            <a:off x="2562730" y="7755064"/>
            <a:ext cx="378528" cy="419739"/>
          </a:xfrm>
          <a:custGeom>
            <a:avLst/>
            <a:gdLst/>
            <a:ahLst/>
            <a:cxnLst/>
            <a:rect l="l" t="t" r="r" b="b"/>
            <a:pathLst>
              <a:path w="378528" h="419739">
                <a:moveTo>
                  <a:pt x="0" y="0"/>
                </a:moveTo>
                <a:lnTo>
                  <a:pt x="378529" y="0"/>
                </a:lnTo>
                <a:lnTo>
                  <a:pt x="378529" y="419739"/>
                </a:lnTo>
                <a:lnTo>
                  <a:pt x="0" y="419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5333998" y="7760480"/>
            <a:ext cx="10287002" cy="40144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2025" b="0">
                <a:solidFill>
                  <a:srgbClr val="282828"/>
                </a:solidFill>
              </a:defRPr>
            </a:defPPr>
          </a:lstStyle>
          <a:p>
            <a:pPr marL="0" lvl="0" indent="0" algn="l">
              <a:lnSpc>
                <a:spcPts val="3161"/>
              </a:lnSpc>
              <a:buNone/>
              <a:defRPr sz="2025" b="0">
                <a:solidFill>
                  <a:srgbClr val="282828"/>
                </a:solidFill>
              </a:defRPr>
            </a:pPr>
            <a:r>
              <a:rPr sz="2025" b="0" u="none" strike="noStrike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실패분석 후 정상분포 이탈을 평가한 보완실험으로, 독립적인 전향 운영검증과 구분</a:t>
            </a:r>
            <a:endParaRPr sz="2200" u="none" strike="noStrike">
              <a:solidFill>
                <a:srgbClr val="28282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AutoShape 26"/>
          <p:cNvSpPr>
            <a:spLocks noGrp="1"/>
          </p:cNvSpPr>
          <p:nvPr/>
        </p:nvSpPr>
        <p:spPr>
          <a:xfrm>
            <a:off x="5067299" y="7706341"/>
            <a:ext cx="0" cy="517185"/>
          </a:xfrm>
          <a:prstGeom prst="line">
            <a:avLst/>
          </a:prstGeom>
          <a:ln w="28575" cap="flat">
            <a:solidFill>
              <a:srgbClr val="282828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AutoShape 27"/>
          <p:cNvSpPr>
            <a:spLocks noGrp="1"/>
          </p:cNvSpPr>
          <p:nvPr/>
        </p:nvSpPr>
        <p:spPr>
          <a:xfrm>
            <a:off x="9144000" y="3727107"/>
            <a:ext cx="0" cy="2661335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2" name="Freeform 13"/>
          <p:cNvSpPr>
            <a:spLocks noGrp="1"/>
          </p:cNvSpPr>
          <p:nvPr/>
        </p:nvSpPr>
        <p:spPr>
          <a:xfrm>
            <a:off x="10632521" y="3651392"/>
            <a:ext cx="4338158" cy="641065"/>
          </a:xfrm>
          <a:custGeom>
            <a:avLst/>
            <a:gdLst/>
            <a:ahLst/>
            <a:cxnLst/>
            <a:rect l="l" t="t" r="r" b="b"/>
            <a:pathLst>
              <a:path w="5427367" h="802021">
                <a:moveTo>
                  <a:pt x="70939" y="0"/>
                </a:moveTo>
                <a:lnTo>
                  <a:pt x="5356428" y="0"/>
                </a:lnTo>
                <a:cubicBezTo>
                  <a:pt x="5375242" y="0"/>
                  <a:pt x="5393286" y="7474"/>
                  <a:pt x="5406589" y="20777"/>
                </a:cubicBezTo>
                <a:cubicBezTo>
                  <a:pt x="5419893" y="34081"/>
                  <a:pt x="5427367" y="52125"/>
                  <a:pt x="5427367" y="70939"/>
                </a:cubicBezTo>
                <a:lnTo>
                  <a:pt x="5427367" y="731082"/>
                </a:lnTo>
                <a:cubicBezTo>
                  <a:pt x="5427367" y="770260"/>
                  <a:pt x="5395606" y="802021"/>
                  <a:pt x="5356428" y="802021"/>
                </a:cubicBezTo>
                <a:lnTo>
                  <a:pt x="70939" y="802021"/>
                </a:lnTo>
                <a:cubicBezTo>
                  <a:pt x="52125" y="802021"/>
                  <a:pt x="34081" y="794547"/>
                  <a:pt x="20777" y="781243"/>
                </a:cubicBezTo>
                <a:cubicBezTo>
                  <a:pt x="7474" y="767940"/>
                  <a:pt x="0" y="749896"/>
                  <a:pt x="0" y="731082"/>
                </a:cubicBezTo>
                <a:lnTo>
                  <a:pt x="0" y="70939"/>
                </a:lnTo>
                <a:cubicBezTo>
                  <a:pt x="0" y="52125"/>
                  <a:pt x="7474" y="34081"/>
                  <a:pt x="20777" y="20777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282828"/>
          </a:solidFill>
          <a:ln cap="rnd">
            <a:noFill/>
            <a:prstDash val="solid"/>
            <a:round/>
          </a:ln>
        </p:spPr>
        <p:txBody>
          <a:bodyPr anchor="ctr"/>
          <a:lstStyle/>
          <a:p>
            <a:pPr algn="ctr">
              <a:lnSpc>
                <a:spcPts val="3110"/>
              </a:lnSpc>
              <a:buNone/>
              <a:defRPr/>
            </a:pPr>
            <a:r>
              <a:rPr sz="2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Threshold 설정</a:t>
            </a:r>
          </a:p>
        </p:txBody>
      </p:sp>
      <p:sp>
        <p:nvSpPr>
          <p:cNvPr id="34" name="TextBox 21"/>
          <p:cNvSpPr>
            <a:spLocks noGrp="1"/>
          </p:cNvSpPr>
          <p:nvPr/>
        </p:nvSpPr>
        <p:spPr>
          <a:xfrm>
            <a:off x="10287000" y="4635486"/>
            <a:ext cx="5219700" cy="17830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950" b="0">
                <a:solidFill>
                  <a:srgbClr val="282828"/>
                </a:solidFill>
              </a:defRPr>
            </a:defPPr>
          </a:lstStyle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보정 정상 Error의 99백분위 임계값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초과 Cycle은 별도 P0_OOD 경보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기존 Risk/Uncertainty와 독립 운용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실패분석 후 추가한 보완실험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6" name="Freeform 13"/>
          <p:cNvSpPr>
            <a:spLocks noGrp="1"/>
          </p:cNvSpPr>
          <p:nvPr/>
        </p:nvSpPr>
        <p:spPr>
          <a:xfrm>
            <a:off x="3317321" y="3652837"/>
            <a:ext cx="4338158" cy="641065"/>
          </a:xfrm>
          <a:custGeom>
            <a:avLst/>
            <a:gdLst/>
            <a:ahLst/>
            <a:cxnLst/>
            <a:rect l="l" t="t" r="r" b="b"/>
            <a:pathLst>
              <a:path w="5427367" h="802021">
                <a:moveTo>
                  <a:pt x="70939" y="0"/>
                </a:moveTo>
                <a:lnTo>
                  <a:pt x="5356428" y="0"/>
                </a:lnTo>
                <a:cubicBezTo>
                  <a:pt x="5375242" y="0"/>
                  <a:pt x="5393286" y="7474"/>
                  <a:pt x="5406589" y="20777"/>
                </a:cubicBezTo>
                <a:cubicBezTo>
                  <a:pt x="5419893" y="34081"/>
                  <a:pt x="5427367" y="52125"/>
                  <a:pt x="5427367" y="70939"/>
                </a:cubicBezTo>
                <a:lnTo>
                  <a:pt x="5427367" y="731082"/>
                </a:lnTo>
                <a:cubicBezTo>
                  <a:pt x="5427367" y="770260"/>
                  <a:pt x="5395606" y="802021"/>
                  <a:pt x="5356428" y="802021"/>
                </a:cubicBezTo>
                <a:lnTo>
                  <a:pt x="70939" y="802021"/>
                </a:lnTo>
                <a:cubicBezTo>
                  <a:pt x="52125" y="802021"/>
                  <a:pt x="34081" y="794547"/>
                  <a:pt x="20777" y="781243"/>
                </a:cubicBezTo>
                <a:cubicBezTo>
                  <a:pt x="7474" y="767940"/>
                  <a:pt x="0" y="749896"/>
                  <a:pt x="0" y="731082"/>
                </a:cubicBezTo>
                <a:lnTo>
                  <a:pt x="0" y="70939"/>
                </a:lnTo>
                <a:cubicBezTo>
                  <a:pt x="0" y="52125"/>
                  <a:pt x="7474" y="34081"/>
                  <a:pt x="20777" y="20777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282828"/>
          </a:solidFill>
          <a:ln cap="rnd">
            <a:noFill/>
            <a:prstDash val="solid"/>
            <a:round/>
          </a:ln>
        </p:spPr>
        <p:txBody>
          <a:bodyPr anchor="ctr"/>
          <a:lstStyle/>
          <a:p>
            <a:pPr algn="ctr">
              <a:lnSpc>
                <a:spcPts val="3110"/>
              </a:lnSpc>
              <a:buNone/>
              <a:defRPr/>
            </a:pPr>
            <a:r>
              <a:rPr sz="22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정상 분포 학습</a:t>
            </a:r>
            <a:endParaRPr sz="220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7" name="TextBox 21"/>
          <p:cNvSpPr>
            <a:spLocks noGrp="1"/>
          </p:cNvSpPr>
          <p:nvPr/>
        </p:nvSpPr>
        <p:spPr>
          <a:xfrm>
            <a:off x="2971800" y="4636931"/>
            <a:ext cx="5067300" cy="17830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950" b="0">
                <a:solidFill>
                  <a:srgbClr val="282828"/>
                </a:solidFill>
              </a:defRPr>
            </a:defPPr>
          </a:lstStyle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Future Fold 이전 정상 Cycle만 사용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시간순 80% 학습 / 20% 임계값 보정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RobustScaler + PCA(설명분산 95%)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미래 불량 라벨은 학습에 미사용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9" name="직사각형 38"/>
          <p:cNvSpPr>
            <a:spLocks noGrp="1"/>
          </p:cNvSpPr>
          <p:nvPr/>
        </p:nvSpPr>
        <p:spPr>
          <a:xfrm>
            <a:off x="914398" y="973455"/>
            <a:ext cx="2891792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03 CN7 오류분석과 안전장치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9286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>
              <a:defRPr sz="5476" b="1">
                <a:solidFill>
                  <a:srgbClr val="282828"/>
                </a:solidFill>
              </a:defRPr>
            </a:defPPr>
          </a:lstStyle>
          <a:p>
            <a:pPr algn="ctr">
              <a:lnSpc>
                <a:spcPts val="6243"/>
              </a:lnSpc>
              <a:buNone/>
              <a:defRPr sz="5476" b="1">
                <a:solidFill>
                  <a:srgbClr val="282828"/>
                </a:solidFill>
              </a:defRPr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 OOD 사후 보완실험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2" name="Tx1002"/>
          <p:cNvSpPr>
            <a:spLocks noGrp="1"/>
          </p:cNvSpPr>
          <p:nvPr/>
        </p:nvSpPr>
        <p:spPr>
          <a:xfrm>
            <a:off x="1943662" y="3285300"/>
            <a:ext cx="6850338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47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E4 결과</a:t>
            </a:r>
          </a:p>
        </p:txBody>
      </p:sp>
      <p:sp>
        <p:nvSpPr>
          <p:cNvPr id="53" name="Tx1003"/>
          <p:cNvSpPr>
            <a:spLocks noGrp="1"/>
          </p:cNvSpPr>
          <p:nvPr/>
        </p:nvSpPr>
        <p:spPr>
          <a:xfrm>
            <a:off x="1943672" y="3805333"/>
            <a:ext cx="6850380" cy="85725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950" b="0">
                <a:solidFill>
                  <a:srgbClr val="6B6B6B"/>
                </a:solidFill>
              </a:defRPr>
            </a:defPPr>
          </a:lstStyle>
          <a:p>
            <a:pPr algn="l">
              <a:buNone/>
              <a:defRPr sz="1950" b="0">
                <a:solidFill>
                  <a:srgbClr val="6B6B6B"/>
                </a:solidFill>
              </a:defRPr>
            </a:pPr>
            <a:r>
              <a:rPr sz="195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314 Cycle 중 4경보(1.27%)</a:t>
            </a:r>
          </a:p>
          <a:p>
            <a:pPr algn="l">
              <a:buNone/>
              <a:defRPr sz="1950" b="0">
                <a:solidFill>
                  <a:srgbClr val="6B6B6B"/>
                </a:solidFill>
              </a:defRPr>
            </a:pPr>
            <a:r>
              <a:rPr sz="195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불량 5 Cycle 중 4포착 · TP4/FP0/FN1</a:t>
            </a:r>
            <a:endParaRPr sz="1800">
              <a:solidFill>
                <a:srgbClr val="6B6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4" name="Tx1004"/>
          <p:cNvSpPr>
            <a:spLocks noGrp="1"/>
          </p:cNvSpPr>
          <p:nvPr/>
        </p:nvSpPr>
        <p:spPr>
          <a:xfrm>
            <a:off x="1943662" y="4735300"/>
            <a:ext cx="6850338" cy="9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48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80%</a:t>
            </a:r>
          </a:p>
        </p:txBody>
      </p:sp>
      <p:sp>
        <p:nvSpPr>
          <p:cNvPr id="55" name="Tx1005"/>
          <p:cNvSpPr>
            <a:spLocks noGrp="1"/>
          </p:cNvSpPr>
          <p:nvPr/>
        </p:nvSpPr>
        <p:spPr>
          <a:xfrm>
            <a:off x="1943662" y="5735300"/>
            <a:ext cx="6850338" cy="4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8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Recall · Precision 100%·F1 0.8889</a:t>
            </a:r>
          </a:p>
        </p:txBody>
      </p:sp>
      <p:sp>
        <p:nvSpPr>
          <p:cNvPr id="56" name="Tx1006"/>
          <p:cNvSpPr>
            <a:spLocks noGrp="1"/>
          </p:cNvSpPr>
          <p:nvPr/>
        </p:nvSpPr>
        <p:spPr>
          <a:xfrm>
            <a:off x="9494000" y="3285300"/>
            <a:ext cx="6850338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47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E5 결과</a:t>
            </a:r>
          </a:p>
        </p:txBody>
      </p:sp>
      <p:sp>
        <p:nvSpPr>
          <p:cNvPr id="57" name="Tx1007"/>
          <p:cNvSpPr>
            <a:spLocks noGrp="1"/>
          </p:cNvSpPr>
          <p:nvPr/>
        </p:nvSpPr>
        <p:spPr>
          <a:xfrm>
            <a:off x="9494044" y="3805333"/>
            <a:ext cx="6850380" cy="85725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950" b="0">
                <a:solidFill>
                  <a:srgbClr val="6B6B6B"/>
                </a:solidFill>
              </a:defRPr>
            </a:defPPr>
          </a:lstStyle>
          <a:p>
            <a:pPr algn="l">
              <a:buNone/>
              <a:defRPr sz="1950" b="0">
                <a:solidFill>
                  <a:srgbClr val="6B6B6B"/>
                </a:solidFill>
              </a:defRPr>
            </a:pPr>
            <a:r>
              <a:rPr sz="195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463 Cycle 중 6경보 · TP0/FP6/FN1</a:t>
            </a:r>
          </a:p>
          <a:p>
            <a:pPr algn="l">
              <a:buNone/>
              <a:defRPr sz="1950" b="0">
                <a:solidFill>
                  <a:srgbClr val="6B6B6B"/>
                </a:solidFill>
              </a:defRPr>
            </a:pPr>
            <a:r>
              <a:rPr sz="195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실제 불량 1 Cycle 미탐</a:t>
            </a:r>
            <a:endParaRPr sz="1800">
              <a:solidFill>
                <a:srgbClr val="6B6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8" name="Tx1008"/>
          <p:cNvSpPr>
            <a:spLocks noGrp="1"/>
          </p:cNvSpPr>
          <p:nvPr/>
        </p:nvSpPr>
        <p:spPr>
          <a:xfrm>
            <a:off x="9494000" y="4735300"/>
            <a:ext cx="6850338" cy="9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48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0%</a:t>
            </a:r>
          </a:p>
        </p:txBody>
      </p:sp>
      <p:sp>
        <p:nvSpPr>
          <p:cNvPr id="59" name="Tx1009"/>
          <p:cNvSpPr>
            <a:spLocks noGrp="1"/>
          </p:cNvSpPr>
          <p:nvPr/>
        </p:nvSpPr>
        <p:spPr>
          <a:xfrm>
            <a:off x="9494000" y="5735300"/>
            <a:ext cx="6850338" cy="4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8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Recall · Hard Defect 한계</a:t>
            </a:r>
          </a:p>
        </p:txBody>
      </p:sp>
      <p:sp>
        <p:nvSpPr>
          <p:cNvPr id="60" name="VL1010"/>
          <p:cNvSpPr>
            <a:spLocks noGrp="1"/>
          </p:cNvSpPr>
          <p:nvPr/>
        </p:nvSpPr>
        <p:spPr>
          <a:xfrm rot="5400000">
            <a:off x="7644000" y="4710300"/>
            <a:ext cx="300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1" name="HL1011"/>
          <p:cNvSpPr>
            <a:spLocks noGrp="1"/>
          </p:cNvSpPr>
          <p:nvPr/>
        </p:nvSpPr>
        <p:spPr>
          <a:xfrm>
            <a:off x="1943662" y="6743700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2" name="Tx1012"/>
          <p:cNvSpPr>
            <a:spLocks noGrp="1"/>
          </p:cNvSpPr>
          <p:nvPr/>
        </p:nvSpPr>
        <p:spPr>
          <a:xfrm>
            <a:off x="1943662" y="7161600"/>
            <a:ext cx="6850338" cy="43262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기존 대비 개선</a:t>
            </a:r>
          </a:p>
        </p:txBody>
      </p:sp>
      <p:sp>
        <p:nvSpPr>
          <p:cNvPr id="63" name="Tx1013"/>
          <p:cNvSpPr>
            <a:spLocks noGrp="1"/>
          </p:cNvSpPr>
          <p:nvPr/>
        </p:nvSpPr>
        <p:spPr>
          <a:xfrm>
            <a:off x="1943662" y="7711601"/>
            <a:ext cx="6850338" cy="926199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950" b="0">
                <a:solidFill>
                  <a:srgbClr val="585858"/>
                </a:solidFill>
              </a:defRPr>
            </a:defPPr>
          </a:lstStyle>
          <a:p>
            <a:pPr algn="l">
              <a:lnSpc>
                <a:spcPct val="15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E4 Cycle 기준 Risk/UC Recall 0%</a:t>
            </a:r>
          </a:p>
          <a:p>
            <a:pPr algn="l">
              <a:lnSpc>
                <a:spcPct val="15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→ 사후 OOD 보완실험 Recall 80%</a:t>
            </a:r>
            <a:endParaRPr sz="19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4" name="Tx1014"/>
          <p:cNvSpPr>
            <a:spLocks noGrp="1"/>
          </p:cNvSpPr>
          <p:nvPr/>
        </p:nvSpPr>
        <p:spPr>
          <a:xfrm>
            <a:off x="9494000" y="7161600"/>
            <a:ext cx="6850338" cy="43262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종합 결론</a:t>
            </a:r>
          </a:p>
        </p:txBody>
      </p:sp>
      <p:sp>
        <p:nvSpPr>
          <p:cNvPr id="65" name="Tx1015"/>
          <p:cNvSpPr>
            <a:spLocks noGrp="1"/>
          </p:cNvSpPr>
          <p:nvPr/>
        </p:nvSpPr>
        <p:spPr>
          <a:xfrm>
            <a:off x="9494000" y="7711601"/>
            <a:ext cx="6850338" cy="926198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신규 Failure Regime은 PCA-OOD로 보완, Hard Defect는</a:t>
            </a:r>
          </a:p>
          <a:p>
            <a:pPr algn="l">
              <a:lnSpc>
                <a:spcPct val="150000"/>
              </a:lnSpc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기존 품질검사를 유지하는 다중 안전장치 설계</a:t>
            </a:r>
          </a:p>
        </p:txBody>
      </p:sp>
      <p:sp>
        <p:nvSpPr>
          <p:cNvPr id="66" name="VL1016"/>
          <p:cNvSpPr>
            <a:spLocks noGrp="1"/>
          </p:cNvSpPr>
          <p:nvPr/>
        </p:nvSpPr>
        <p:spPr>
          <a:xfrm rot="5400000">
            <a:off x="8369000" y="7899700"/>
            <a:ext cx="155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4" name="직사각형 73"/>
          <p:cNvSpPr>
            <a:spLocks noGrp="1"/>
          </p:cNvSpPr>
          <p:nvPr/>
        </p:nvSpPr>
        <p:spPr>
          <a:xfrm>
            <a:off x="914398" y="973455"/>
            <a:ext cx="2891792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03 CN7 오류분석과 안전장치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1943100" y="1496663"/>
            <a:ext cx="14401800" cy="79286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ctr">
              <a:defRPr sz="5476" b="1">
                <a:solidFill>
                  <a:srgbClr val="282828"/>
                </a:solidFill>
              </a:defRPr>
            </a:defPPr>
          </a:lstStyle>
          <a:p>
            <a:pPr algn="ctr">
              <a:lnSpc>
                <a:spcPts val="6243"/>
              </a:lnSpc>
              <a:buNone/>
              <a:defRPr sz="5476" b="1">
                <a:solidFill>
                  <a:srgbClr val="282828"/>
                </a:solidFill>
              </a:defRPr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RG3 데이터 문제와 모델링 전략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1" name="Tx1002"/>
          <p:cNvSpPr>
            <a:spLocks noGrp="1"/>
          </p:cNvSpPr>
          <p:nvPr/>
        </p:nvSpPr>
        <p:spPr>
          <a:xfrm>
            <a:off x="1943662" y="3019700"/>
            <a:ext cx="7352738" cy="42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2100" b="1">
                <a:solidFill>
                  <a:srgbClr val="282828"/>
                </a:solidFill>
              </a:defRPr>
            </a:defPPr>
          </a:lstStyle>
          <a:p>
            <a:pPr algn="l">
              <a:buNone/>
              <a:defRPr sz="2100" b="1">
                <a:solidFill>
                  <a:srgbClr val="282828"/>
                </a:solidFill>
              </a:defRPr>
            </a:pPr>
            <a:r>
              <a:rPr sz="21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라벨 학습구간 — 불량 25건(2.12%) 모두 RH에서 발생</a:t>
            </a:r>
            <a:endParaRPr sz="2200" b="1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2" name="Tx1003"/>
          <p:cNvSpPr>
            <a:spLocks noGrp="1"/>
          </p:cNvSpPr>
          <p:nvPr/>
        </p:nvSpPr>
        <p:spPr>
          <a:xfrm>
            <a:off x="1943662" y="3667300"/>
            <a:ext cx="6850338" cy="9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48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4.23%</a:t>
            </a:r>
          </a:p>
        </p:txBody>
      </p:sp>
      <p:sp>
        <p:nvSpPr>
          <p:cNvPr id="53" name="Tx1004"/>
          <p:cNvSpPr>
            <a:spLocks noGrp="1"/>
          </p:cNvSpPr>
          <p:nvPr/>
        </p:nvSpPr>
        <p:spPr>
          <a:xfrm>
            <a:off x="1943662" y="4667300"/>
            <a:ext cx="6850338" cy="4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8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RH 591건 중 불량 비율</a:t>
            </a:r>
          </a:p>
        </p:txBody>
      </p:sp>
      <p:sp>
        <p:nvSpPr>
          <p:cNvPr id="54" name="Tx1005"/>
          <p:cNvSpPr>
            <a:spLocks noGrp="1"/>
          </p:cNvSpPr>
          <p:nvPr/>
        </p:nvSpPr>
        <p:spPr>
          <a:xfrm>
            <a:off x="9494000" y="3667300"/>
            <a:ext cx="6850338" cy="90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48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0건</a:t>
            </a:r>
          </a:p>
        </p:txBody>
      </p:sp>
      <p:sp>
        <p:nvSpPr>
          <p:cNvPr id="55" name="Tx1006"/>
          <p:cNvSpPr>
            <a:spLocks noGrp="1"/>
          </p:cNvSpPr>
          <p:nvPr/>
        </p:nvSpPr>
        <p:spPr>
          <a:xfrm>
            <a:off x="9494000" y="4667300"/>
            <a:ext cx="6850338" cy="40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00" b="0">
                <a:solidFill>
                  <a:srgbClr val="6B6B6B"/>
                </a:solidFill>
              </a:defRPr>
            </a:defPPr>
          </a:lstStyle>
          <a:p>
            <a:pPr algn="l"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라벨 학습구간 LH 불량</a:t>
            </a:r>
            <a:endParaRPr sz="1800">
              <a:solidFill>
                <a:srgbClr val="6B6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6" name="VL1007"/>
          <p:cNvSpPr>
            <a:spLocks noGrp="1"/>
          </p:cNvSpPr>
          <p:nvPr/>
        </p:nvSpPr>
        <p:spPr>
          <a:xfrm rot="5400000">
            <a:off x="8444000" y="4367300"/>
            <a:ext cx="140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7" name="Tx1008"/>
          <p:cNvSpPr>
            <a:spLocks noGrp="1"/>
          </p:cNvSpPr>
          <p:nvPr/>
        </p:nvSpPr>
        <p:spPr>
          <a:xfrm>
            <a:off x="1943662" y="5295900"/>
            <a:ext cx="14400676" cy="45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9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Side를 그대로 학습하면 모델이 공정상태 대신 Side로 불량을 구분하는 지름길 위험이 있음</a:t>
            </a:r>
          </a:p>
        </p:txBody>
      </p:sp>
      <p:sp>
        <p:nvSpPr>
          <p:cNvPr id="58" name="HL1009"/>
          <p:cNvSpPr>
            <a:spLocks noGrp="1"/>
          </p:cNvSpPr>
          <p:nvPr/>
        </p:nvSpPr>
        <p:spPr>
          <a:xfrm>
            <a:off x="1943662" y="5905500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9" name="Tx1010"/>
          <p:cNvSpPr>
            <a:spLocks noGrp="1"/>
          </p:cNvSpPr>
          <p:nvPr/>
        </p:nvSpPr>
        <p:spPr>
          <a:xfrm>
            <a:off x="1943662" y="6134100"/>
            <a:ext cx="40000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900" b="1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대응 흐름</a:t>
            </a:r>
          </a:p>
        </p:txBody>
      </p:sp>
      <p:sp>
        <p:nvSpPr>
          <p:cNvPr id="60" name="HL1011"/>
          <p:cNvSpPr>
            <a:spLocks noGrp="1"/>
          </p:cNvSpPr>
          <p:nvPr/>
        </p:nvSpPr>
        <p:spPr>
          <a:xfrm>
            <a:off x="4723774" y="7567300"/>
            <a:ext cx="8840450" cy="0"/>
          </a:xfrm>
          <a:prstGeom prst="line">
            <a:avLst/>
          </a:prstGeom>
          <a:ln w="12700" cap="flat">
            <a:solidFill>
              <a:srgbClr val="C7C7C7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1" name="Node1012"/>
          <p:cNvSpPr>
            <a:spLocks noGrp="1"/>
          </p:cNvSpPr>
          <p:nvPr/>
        </p:nvSpPr>
        <p:spPr>
          <a:xfrm>
            <a:off x="3963774" y="7187300"/>
            <a:ext cx="760000" cy="76000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  <a:defRPr/>
            </a:pPr>
            <a:r>
              <a:rPr sz="22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id="62" name="Tx1013"/>
          <p:cNvSpPr>
            <a:spLocks noGrp="1"/>
          </p:cNvSpPr>
          <p:nvPr/>
        </p:nvSpPr>
        <p:spPr>
          <a:xfrm>
            <a:off x="2093662" y="6286500"/>
            <a:ext cx="4500225" cy="650000"/>
          </a:xfrm>
          <a:prstGeom prst="rect">
            <a:avLst/>
          </a:prstGeom>
        </p:spPr>
        <p:txBody>
          <a:bodyPr lIns="0" tIns="0" rIns="0" bIns="0" anchor="b"/>
          <a:lstStyle/>
          <a:p>
            <a:pPr algn="ctr">
              <a:buNone/>
              <a:defRPr/>
            </a:pPr>
            <a:r>
              <a:rPr sz="21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지름길 위험 인지</a:t>
            </a:r>
          </a:p>
        </p:txBody>
      </p:sp>
      <p:sp>
        <p:nvSpPr>
          <p:cNvPr id="63" name="Tx1014"/>
          <p:cNvSpPr>
            <a:spLocks noGrp="1"/>
          </p:cNvSpPr>
          <p:nvPr/>
        </p:nvSpPr>
        <p:spPr>
          <a:xfrm>
            <a:off x="2093662" y="8279700"/>
            <a:ext cx="4500225" cy="75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buNone/>
              <a:defRPr/>
            </a:pPr>
            <a:r>
              <a:rPr sz="17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Side 단독 구분 위험 사전 확인</a:t>
            </a:r>
          </a:p>
        </p:txBody>
      </p:sp>
      <p:sp>
        <p:nvSpPr>
          <p:cNvPr id="64" name="VL1015"/>
          <p:cNvSpPr>
            <a:spLocks noGrp="1"/>
          </p:cNvSpPr>
          <p:nvPr/>
        </p:nvSpPr>
        <p:spPr>
          <a:xfrm rot="5400000">
            <a:off x="5743887" y="7567300"/>
            <a:ext cx="200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5" name="Node1016"/>
          <p:cNvSpPr>
            <a:spLocks noGrp="1"/>
          </p:cNvSpPr>
          <p:nvPr/>
        </p:nvSpPr>
        <p:spPr>
          <a:xfrm>
            <a:off x="8763999" y="7187300"/>
            <a:ext cx="760000" cy="76000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  <a:defRPr/>
            </a:pPr>
            <a:r>
              <a:rPr sz="22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id="66" name="Tx1017"/>
          <p:cNvSpPr>
            <a:spLocks noGrp="1"/>
          </p:cNvSpPr>
          <p:nvPr/>
        </p:nvSpPr>
        <p:spPr>
          <a:xfrm>
            <a:off x="6893887" y="6286500"/>
            <a:ext cx="4500225" cy="650000"/>
          </a:xfrm>
          <a:prstGeom prst="rect">
            <a:avLst/>
          </a:prstGeom>
        </p:spPr>
        <p:txBody>
          <a:bodyPr lIns="0" tIns="0" rIns="0" bIns="0" anchor="b"/>
          <a:lstStyle/>
          <a:p>
            <a:pPr algn="ctr">
              <a:buNone/>
              <a:defRPr/>
            </a:pPr>
            <a:r>
              <a:rPr sz="21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대응 전략</a:t>
            </a:r>
          </a:p>
        </p:txBody>
      </p:sp>
      <p:sp>
        <p:nvSpPr>
          <p:cNvPr id="67" name="Tx1018"/>
          <p:cNvSpPr>
            <a:spLocks noGrp="1"/>
          </p:cNvSpPr>
          <p:nvPr/>
        </p:nvSpPr>
        <p:spPr>
          <a:xfrm>
            <a:off x="6893887" y="8279700"/>
            <a:ext cx="4500225" cy="750000"/>
          </a:xfrm>
          <a:prstGeom prst="rect">
            <a:avLst/>
          </a:prstGeom>
        </p:spPr>
        <p:txBody>
          <a:bodyPr lIns="0" tIns="0" rIns="0" bIns="0" anchor="t"/>
          <a:lstStyle>
            <a:defPPr algn="ctr">
              <a:defRPr sz="1725" b="0">
                <a:solidFill>
                  <a:srgbClr val="585858"/>
                </a:solidFill>
              </a:defRPr>
            </a:defPPr>
          </a:lstStyle>
          <a:p>
            <a:pPr algn="ctr">
              <a:buNone/>
              <a:defRPr sz="1725" b="0">
                <a:solidFill>
                  <a:srgbClr val="585858"/>
                </a:solidFill>
              </a:defRPr>
            </a:pPr>
            <a:r>
              <a:rPr sz="172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RH 591건 지도학습</a:t>
            </a:r>
          </a:p>
          <a:p>
            <a:pPr algn="ctr">
              <a:buNone/>
              <a:defRPr sz="1725" b="0">
                <a:solidFill>
                  <a:srgbClr val="585858"/>
                </a:solidFill>
              </a:defRPr>
            </a:pPr>
            <a:r>
              <a:rPr sz="172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LH/RH 모두 기존검사 유지</a:t>
            </a:r>
            <a:endParaRPr sz="17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8" name="VL1019"/>
          <p:cNvSpPr>
            <a:spLocks noGrp="1"/>
          </p:cNvSpPr>
          <p:nvPr/>
        </p:nvSpPr>
        <p:spPr>
          <a:xfrm rot="5400000">
            <a:off x="10544112" y="7567300"/>
            <a:ext cx="200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9" name="Node1020"/>
          <p:cNvSpPr>
            <a:spLocks noGrp="1"/>
          </p:cNvSpPr>
          <p:nvPr/>
        </p:nvSpPr>
        <p:spPr>
          <a:xfrm>
            <a:off x="13564224" y="7187300"/>
            <a:ext cx="760000" cy="760000"/>
          </a:xfrm>
          <a:prstGeom prst="ellipse">
            <a:avLst/>
          </a:prstGeom>
          <a:solidFill>
            <a:srgbClr val="282828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  <a:defRPr/>
            </a:pPr>
            <a:r>
              <a:rPr sz="22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sp>
        <p:nvSpPr>
          <p:cNvPr id="70" name="Tx1021"/>
          <p:cNvSpPr>
            <a:spLocks noGrp="1"/>
          </p:cNvSpPr>
          <p:nvPr/>
        </p:nvSpPr>
        <p:spPr>
          <a:xfrm>
            <a:off x="11694112" y="6286500"/>
            <a:ext cx="4500225" cy="650000"/>
          </a:xfrm>
          <a:prstGeom prst="rect">
            <a:avLst/>
          </a:prstGeom>
        </p:spPr>
        <p:txBody>
          <a:bodyPr lIns="0" tIns="0" rIns="0" bIns="0" anchor="b"/>
          <a:lstStyle/>
          <a:p>
            <a:pPr algn="ctr">
              <a:buNone/>
              <a:defRPr/>
            </a:pPr>
            <a:r>
              <a:rPr sz="21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검증 전략</a:t>
            </a:r>
          </a:p>
        </p:txBody>
      </p:sp>
      <p:sp>
        <p:nvSpPr>
          <p:cNvPr id="71" name="Tx1022"/>
          <p:cNvSpPr>
            <a:spLocks noGrp="1"/>
          </p:cNvSpPr>
          <p:nvPr/>
        </p:nvSpPr>
        <p:spPr>
          <a:xfrm>
            <a:off x="11694112" y="8279700"/>
            <a:ext cx="4500225" cy="75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ctr">
              <a:buNone/>
              <a:defRPr/>
            </a:pPr>
            <a:r>
              <a:rPr sz="17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Development(1~3)/Final Holdout(4~5) 분리·Rolling Temporal Validation</a:t>
            </a:r>
          </a:p>
        </p:txBody>
      </p:sp>
      <p:sp>
        <p:nvSpPr>
          <p:cNvPr id="72" name="직사각형 71"/>
          <p:cNvSpPr>
            <a:spLocks noGrp="1"/>
          </p:cNvSpPr>
          <p:nvPr/>
        </p:nvSpPr>
        <p:spPr>
          <a:xfrm>
            <a:off x="914397" y="973455"/>
            <a:ext cx="2548893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04 RG3 모델 개발과 한계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RG3 Feature Engineering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" name="Freeform 9"/>
          <p:cNvSpPr>
            <a:spLocks noGrp="1"/>
          </p:cNvSpPr>
          <p:nvPr/>
        </p:nvSpPr>
        <p:spPr>
          <a:xfrm>
            <a:off x="1943662" y="3282153"/>
            <a:ext cx="6969960" cy="2667000"/>
          </a:xfrm>
          <a:custGeom>
            <a:avLst/>
            <a:gdLst/>
            <a:ahLst/>
            <a:cxnLst/>
            <a:rect l="l" t="t" r="r" b="b"/>
            <a:pathLst>
              <a:path w="1243201" h="475701">
                <a:moveTo>
                  <a:pt x="19994" y="0"/>
                </a:moveTo>
                <a:lnTo>
                  <a:pt x="1223207" y="0"/>
                </a:lnTo>
                <a:cubicBezTo>
                  <a:pt x="1234250" y="0"/>
                  <a:pt x="1243201" y="8951"/>
                  <a:pt x="1243201" y="19994"/>
                </a:cubicBezTo>
                <a:lnTo>
                  <a:pt x="1243201" y="455707"/>
                </a:lnTo>
                <a:cubicBezTo>
                  <a:pt x="1243201" y="461010"/>
                  <a:pt x="1241095" y="466096"/>
                  <a:pt x="1237345" y="469845"/>
                </a:cubicBezTo>
                <a:cubicBezTo>
                  <a:pt x="1233596" y="473595"/>
                  <a:pt x="1228510" y="475701"/>
                  <a:pt x="1223207" y="475701"/>
                </a:cubicBezTo>
                <a:lnTo>
                  <a:pt x="19994" y="475701"/>
                </a:lnTo>
                <a:cubicBezTo>
                  <a:pt x="8951" y="475701"/>
                  <a:pt x="0" y="466750"/>
                  <a:pt x="0" y="455707"/>
                </a:cubicBezTo>
                <a:lnTo>
                  <a:pt x="0" y="19994"/>
                </a:lnTo>
                <a:cubicBezTo>
                  <a:pt x="0" y="8951"/>
                  <a:pt x="8951" y="0"/>
                  <a:pt x="19994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TextBox 12"/>
          <p:cNvSpPr>
            <a:spLocks noGrp="1"/>
          </p:cNvSpPr>
          <p:nvPr/>
        </p:nvSpPr>
        <p:spPr>
          <a:xfrm>
            <a:off x="3221641" y="4695825"/>
            <a:ext cx="5042345" cy="3905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defPPr algn="l">
              <a:defRPr sz="1950" b="0">
                <a:solidFill>
                  <a:srgbClr val="282828"/>
                </a:solidFill>
              </a:defRPr>
            </a:defPPr>
          </a:lstStyle>
          <a:p>
            <a:pPr algn="l">
              <a:lnSpc>
                <a:spcPct val="130000"/>
              </a:lnSpc>
              <a:buNone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RH만 지도학습, LH/RH 기존검사 유지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3221679" y="4429112"/>
            <a:ext cx="5042318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Freeform 15"/>
          <p:cNvSpPr>
            <a:spLocks noGrp="1"/>
          </p:cNvSpPr>
          <p:nvPr/>
        </p:nvSpPr>
        <p:spPr>
          <a:xfrm>
            <a:off x="2272134" y="3729681"/>
            <a:ext cx="638568" cy="63856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algn="ctr">
              <a:lnSpc>
                <a:spcPts val="3179"/>
              </a:lnSpc>
              <a:buNone/>
              <a:defRPr/>
            </a:pPr>
            <a:r>
              <a:rPr sz="2200" b="1" spc="165">
                <a:solidFill>
                  <a:srgbClr val="FFFFFF"/>
                </a:solidFill>
                <a:latin typeface="Pretendard Medium"/>
                <a:ea typeface="Pretendard Medium"/>
                <a:cs typeface="Pretendard SemiBold"/>
              </a:rPr>
              <a:t>01</a:t>
            </a:r>
            <a:endParaRPr sz="2200">
              <a:latin typeface="Pretendard Medium"/>
              <a:ea typeface="Pretendard Medium"/>
              <a:cs typeface="Pretendard SemiBold"/>
            </a:endParaRPr>
          </a:p>
        </p:txBody>
      </p:sp>
      <p:sp>
        <p:nvSpPr>
          <p:cNvPr id="18" name="Freeform 18"/>
          <p:cNvSpPr>
            <a:spLocks noGrp="1"/>
          </p:cNvSpPr>
          <p:nvPr/>
        </p:nvSpPr>
        <p:spPr>
          <a:xfrm flipH="1">
            <a:off x="8084617" y="3900102"/>
            <a:ext cx="179380" cy="297726"/>
          </a:xfrm>
          <a:custGeom>
            <a:avLst/>
            <a:gdLst/>
            <a:ahLst/>
            <a:cxnLst/>
            <a:rect l="l" t="t" r="r" b="b"/>
            <a:pathLst>
              <a:path w="179380" h="297726">
                <a:moveTo>
                  <a:pt x="179380" y="0"/>
                </a:moveTo>
                <a:lnTo>
                  <a:pt x="0" y="0"/>
                </a:lnTo>
                <a:lnTo>
                  <a:pt x="0" y="297727"/>
                </a:lnTo>
                <a:lnTo>
                  <a:pt x="179380" y="297727"/>
                </a:lnTo>
                <a:lnTo>
                  <a:pt x="17938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2" name="직사각형 51"/>
          <p:cNvSpPr>
            <a:spLocks noGrp="1"/>
          </p:cNvSpPr>
          <p:nvPr/>
        </p:nvSpPr>
        <p:spPr>
          <a:xfrm>
            <a:off x="3221679" y="3807030"/>
            <a:ext cx="1537011" cy="486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600">
                <a:latin typeface="Pretendard SemiBold"/>
                <a:ea typeface="Pretendard SemiBold"/>
                <a:cs typeface="Pretendard SemiBold"/>
              </a:rPr>
              <a:t>Side 분리</a:t>
            </a:r>
          </a:p>
        </p:txBody>
      </p:sp>
      <p:sp>
        <p:nvSpPr>
          <p:cNvPr id="55" name="Freeform 9"/>
          <p:cNvSpPr>
            <a:spLocks noGrp="1"/>
          </p:cNvSpPr>
          <p:nvPr/>
        </p:nvSpPr>
        <p:spPr>
          <a:xfrm>
            <a:off x="9374378" y="3282153"/>
            <a:ext cx="6969960" cy="2667000"/>
          </a:xfrm>
          <a:custGeom>
            <a:avLst/>
            <a:gdLst/>
            <a:ahLst/>
            <a:cxnLst/>
            <a:rect l="l" t="t" r="r" b="b"/>
            <a:pathLst>
              <a:path w="1243201" h="475701">
                <a:moveTo>
                  <a:pt x="19994" y="0"/>
                </a:moveTo>
                <a:lnTo>
                  <a:pt x="1223207" y="0"/>
                </a:lnTo>
                <a:cubicBezTo>
                  <a:pt x="1234250" y="0"/>
                  <a:pt x="1243201" y="8951"/>
                  <a:pt x="1243201" y="19994"/>
                </a:cubicBezTo>
                <a:lnTo>
                  <a:pt x="1243201" y="455707"/>
                </a:lnTo>
                <a:cubicBezTo>
                  <a:pt x="1243201" y="461010"/>
                  <a:pt x="1241095" y="466096"/>
                  <a:pt x="1237345" y="469845"/>
                </a:cubicBezTo>
                <a:cubicBezTo>
                  <a:pt x="1233596" y="473595"/>
                  <a:pt x="1228510" y="475701"/>
                  <a:pt x="1223207" y="475701"/>
                </a:cubicBezTo>
                <a:lnTo>
                  <a:pt x="19994" y="475701"/>
                </a:lnTo>
                <a:cubicBezTo>
                  <a:pt x="8951" y="475701"/>
                  <a:pt x="0" y="466750"/>
                  <a:pt x="0" y="455707"/>
                </a:cubicBezTo>
                <a:lnTo>
                  <a:pt x="0" y="19994"/>
                </a:lnTo>
                <a:cubicBezTo>
                  <a:pt x="0" y="8951"/>
                  <a:pt x="8951" y="0"/>
                  <a:pt x="19994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6" name="TextBox 12"/>
          <p:cNvSpPr>
            <a:spLocks noGrp="1"/>
          </p:cNvSpPr>
          <p:nvPr/>
        </p:nvSpPr>
        <p:spPr>
          <a:xfrm>
            <a:off x="10652394" y="4695812"/>
            <a:ext cx="5042319" cy="7429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875" b="0">
                <a:solidFill>
                  <a:srgbClr val="282828"/>
                </a:solidFill>
              </a:defRPr>
            </a:defPPr>
          </a:lstStyle>
          <a:p>
            <a:pPr algn="l">
              <a:lnSpc>
                <a:spcPct val="130000"/>
              </a:lnSpc>
              <a:buNone/>
              <a:defRPr sz="1875" b="0">
                <a:solidFill>
                  <a:srgbClr val="282828"/>
                </a:solidFill>
              </a:defRPr>
            </a:pPr>
            <a:r>
              <a:rPr sz="1875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Session별 과거 EWMA(span=5) 계산</a:t>
            </a:r>
          </a:p>
          <a:p>
            <a:pPr algn="l">
              <a:lnSpc>
                <a:spcPct val="130000"/>
              </a:lnSpc>
              <a:buNone/>
              <a:defRPr sz="1875" b="0">
                <a:solidFill>
                  <a:srgbClr val="282828"/>
                </a:solidFill>
              </a:defRPr>
            </a:pPr>
            <a:r>
              <a:rPr sz="1875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현재값 제외 · 자동 Drift Detector 아님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7" name="AutoShape 13"/>
          <p:cNvSpPr>
            <a:spLocks noGrp="1"/>
          </p:cNvSpPr>
          <p:nvPr/>
        </p:nvSpPr>
        <p:spPr>
          <a:xfrm>
            <a:off x="10652395" y="4429112"/>
            <a:ext cx="5042318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8" name="Freeform 15"/>
          <p:cNvSpPr>
            <a:spLocks noGrp="1"/>
          </p:cNvSpPr>
          <p:nvPr/>
        </p:nvSpPr>
        <p:spPr>
          <a:xfrm>
            <a:off x="9702850" y="3729681"/>
            <a:ext cx="638568" cy="63856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algn="ctr">
              <a:lnSpc>
                <a:spcPts val="3179"/>
              </a:lnSpc>
              <a:buNone/>
              <a:defRPr/>
            </a:pPr>
            <a:r>
              <a:rPr sz="2200" b="1" spc="165">
                <a:solidFill>
                  <a:srgbClr val="FFFFFF"/>
                </a:solidFill>
                <a:latin typeface="Pretendard Medium"/>
                <a:ea typeface="Pretendard Medium"/>
                <a:cs typeface="Pretendard SemiBold"/>
              </a:rPr>
              <a:t>02</a:t>
            </a:r>
          </a:p>
        </p:txBody>
      </p:sp>
      <p:sp>
        <p:nvSpPr>
          <p:cNvPr id="59" name="Freeform 18"/>
          <p:cNvSpPr>
            <a:spLocks noGrp="1"/>
          </p:cNvSpPr>
          <p:nvPr/>
        </p:nvSpPr>
        <p:spPr>
          <a:xfrm flipH="1">
            <a:off x="15515333" y="3900102"/>
            <a:ext cx="179380" cy="297726"/>
          </a:xfrm>
          <a:custGeom>
            <a:avLst/>
            <a:gdLst/>
            <a:ahLst/>
            <a:cxnLst/>
            <a:rect l="l" t="t" r="r" b="b"/>
            <a:pathLst>
              <a:path w="179380" h="297726">
                <a:moveTo>
                  <a:pt x="179380" y="0"/>
                </a:moveTo>
                <a:lnTo>
                  <a:pt x="0" y="0"/>
                </a:lnTo>
                <a:lnTo>
                  <a:pt x="0" y="297727"/>
                </a:lnTo>
                <a:lnTo>
                  <a:pt x="179380" y="297727"/>
                </a:lnTo>
                <a:lnTo>
                  <a:pt x="17938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0" name="직사각형 59"/>
          <p:cNvSpPr>
            <a:spLocks noGrp="1"/>
          </p:cNvSpPr>
          <p:nvPr/>
        </p:nvSpPr>
        <p:spPr>
          <a:xfrm>
            <a:off x="10652393" y="3807030"/>
            <a:ext cx="1888221" cy="486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600">
                <a:latin typeface="Pretendard SemiBold"/>
                <a:ea typeface="Pretendard SemiBold"/>
                <a:cs typeface="Pretendard SemiBold"/>
              </a:rPr>
              <a:t>EWMA 산출</a:t>
            </a:r>
          </a:p>
        </p:txBody>
      </p:sp>
      <p:sp>
        <p:nvSpPr>
          <p:cNvPr id="62" name="Freeform 9"/>
          <p:cNvSpPr>
            <a:spLocks noGrp="1"/>
          </p:cNvSpPr>
          <p:nvPr/>
        </p:nvSpPr>
        <p:spPr>
          <a:xfrm>
            <a:off x="1943662" y="6286499"/>
            <a:ext cx="6969960" cy="2667000"/>
          </a:xfrm>
          <a:custGeom>
            <a:avLst/>
            <a:gdLst/>
            <a:ahLst/>
            <a:cxnLst/>
            <a:rect l="l" t="t" r="r" b="b"/>
            <a:pathLst>
              <a:path w="1243201" h="475701">
                <a:moveTo>
                  <a:pt x="19994" y="0"/>
                </a:moveTo>
                <a:lnTo>
                  <a:pt x="1223207" y="0"/>
                </a:lnTo>
                <a:cubicBezTo>
                  <a:pt x="1234250" y="0"/>
                  <a:pt x="1243201" y="8951"/>
                  <a:pt x="1243201" y="19994"/>
                </a:cubicBezTo>
                <a:lnTo>
                  <a:pt x="1243201" y="455707"/>
                </a:lnTo>
                <a:cubicBezTo>
                  <a:pt x="1243201" y="461010"/>
                  <a:pt x="1241095" y="466096"/>
                  <a:pt x="1237345" y="469845"/>
                </a:cubicBezTo>
                <a:cubicBezTo>
                  <a:pt x="1233596" y="473595"/>
                  <a:pt x="1228510" y="475701"/>
                  <a:pt x="1223207" y="475701"/>
                </a:cubicBezTo>
                <a:lnTo>
                  <a:pt x="19994" y="475701"/>
                </a:lnTo>
                <a:cubicBezTo>
                  <a:pt x="8951" y="475701"/>
                  <a:pt x="0" y="466750"/>
                  <a:pt x="0" y="455707"/>
                </a:cubicBezTo>
                <a:lnTo>
                  <a:pt x="0" y="19994"/>
                </a:lnTo>
                <a:cubicBezTo>
                  <a:pt x="0" y="8951"/>
                  <a:pt x="8951" y="0"/>
                  <a:pt x="19994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3" name="TextBox 12"/>
          <p:cNvSpPr>
            <a:spLocks noGrp="1"/>
          </p:cNvSpPr>
          <p:nvPr/>
        </p:nvSpPr>
        <p:spPr>
          <a:xfrm>
            <a:off x="3221678" y="7700158"/>
            <a:ext cx="5042319" cy="7429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875" b="0">
                <a:solidFill>
                  <a:srgbClr val="282828"/>
                </a:solidFill>
              </a:defRPr>
            </a:defPPr>
          </a:lstStyle>
          <a:p>
            <a:pPr algn="l">
              <a:lnSpc>
                <a:spcPct val="130000"/>
              </a:lnSpc>
              <a:buNone/>
              <a:defRPr sz="1875" b="0">
                <a:solidFill>
                  <a:srgbClr val="282828"/>
                </a:solidFill>
              </a:defRPr>
            </a:pPr>
            <a:r>
              <a:rPr sz="1875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현재값과 과거 EWMA의 차이를 절대값화</a:t>
            </a:r>
          </a:p>
          <a:p>
            <a:pPr algn="l">
              <a:lnSpc>
                <a:spcPct val="130000"/>
              </a:lnSpc>
              <a:buNone/>
              <a:defRPr sz="1875" b="0">
                <a:solidFill>
                  <a:srgbClr val="282828"/>
                </a:solidFill>
              </a:defRPr>
            </a:pPr>
            <a:r>
              <a:rPr sz="1875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공정 이탈 크기를 나타내는 23개 변수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4" name="AutoShape 13"/>
          <p:cNvSpPr>
            <a:spLocks noGrp="1"/>
          </p:cNvSpPr>
          <p:nvPr/>
        </p:nvSpPr>
        <p:spPr>
          <a:xfrm>
            <a:off x="3221679" y="7433458"/>
            <a:ext cx="5042318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5" name="Freeform 15"/>
          <p:cNvSpPr>
            <a:spLocks noGrp="1"/>
          </p:cNvSpPr>
          <p:nvPr/>
        </p:nvSpPr>
        <p:spPr>
          <a:xfrm>
            <a:off x="2272134" y="6734027"/>
            <a:ext cx="638568" cy="63856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algn="ctr">
              <a:lnSpc>
                <a:spcPts val="3179"/>
              </a:lnSpc>
              <a:buNone/>
              <a:defRPr/>
            </a:pPr>
            <a:r>
              <a:rPr sz="2200" b="1" spc="165">
                <a:solidFill>
                  <a:srgbClr val="FFFFFF"/>
                </a:solidFill>
                <a:latin typeface="Pretendard Medium"/>
                <a:ea typeface="Pretendard Medium"/>
                <a:cs typeface="Pretendard SemiBold"/>
              </a:rPr>
              <a:t>03</a:t>
            </a:r>
          </a:p>
        </p:txBody>
      </p:sp>
      <p:sp>
        <p:nvSpPr>
          <p:cNvPr id="66" name="Freeform 18"/>
          <p:cNvSpPr>
            <a:spLocks noGrp="1"/>
          </p:cNvSpPr>
          <p:nvPr/>
        </p:nvSpPr>
        <p:spPr>
          <a:xfrm flipH="1">
            <a:off x="8084617" y="6904448"/>
            <a:ext cx="179380" cy="297726"/>
          </a:xfrm>
          <a:custGeom>
            <a:avLst/>
            <a:gdLst/>
            <a:ahLst/>
            <a:cxnLst/>
            <a:rect l="l" t="t" r="r" b="b"/>
            <a:pathLst>
              <a:path w="179380" h="297726">
                <a:moveTo>
                  <a:pt x="179380" y="0"/>
                </a:moveTo>
                <a:lnTo>
                  <a:pt x="0" y="0"/>
                </a:lnTo>
                <a:lnTo>
                  <a:pt x="0" y="297727"/>
                </a:lnTo>
                <a:lnTo>
                  <a:pt x="179380" y="297727"/>
                </a:lnTo>
                <a:lnTo>
                  <a:pt x="17938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67" name="직사각형 66"/>
          <p:cNvSpPr>
            <a:spLocks noGrp="1"/>
          </p:cNvSpPr>
          <p:nvPr/>
        </p:nvSpPr>
        <p:spPr>
          <a:xfrm>
            <a:off x="3221678" y="6811376"/>
            <a:ext cx="1870387" cy="4838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600">
                <a:latin typeface="Pretendard SemiBold"/>
                <a:ea typeface="Pretendard SemiBold"/>
                <a:cs typeface="Pretendard SemiBold"/>
              </a:rPr>
              <a:t>Absolute화</a:t>
            </a:r>
          </a:p>
        </p:txBody>
      </p:sp>
      <p:sp>
        <p:nvSpPr>
          <p:cNvPr id="69" name="Freeform 9"/>
          <p:cNvSpPr>
            <a:spLocks noGrp="1"/>
          </p:cNvSpPr>
          <p:nvPr/>
        </p:nvSpPr>
        <p:spPr>
          <a:xfrm>
            <a:off x="9374378" y="6286500"/>
            <a:ext cx="6969960" cy="2667000"/>
          </a:xfrm>
          <a:custGeom>
            <a:avLst/>
            <a:gdLst/>
            <a:ahLst/>
            <a:cxnLst/>
            <a:rect l="l" t="t" r="r" b="b"/>
            <a:pathLst>
              <a:path w="1243201" h="475701">
                <a:moveTo>
                  <a:pt x="19994" y="0"/>
                </a:moveTo>
                <a:lnTo>
                  <a:pt x="1223207" y="0"/>
                </a:lnTo>
                <a:cubicBezTo>
                  <a:pt x="1234250" y="0"/>
                  <a:pt x="1243201" y="8951"/>
                  <a:pt x="1243201" y="19994"/>
                </a:cubicBezTo>
                <a:lnTo>
                  <a:pt x="1243201" y="455707"/>
                </a:lnTo>
                <a:cubicBezTo>
                  <a:pt x="1243201" y="461010"/>
                  <a:pt x="1241095" y="466096"/>
                  <a:pt x="1237345" y="469845"/>
                </a:cubicBezTo>
                <a:cubicBezTo>
                  <a:pt x="1233596" y="473595"/>
                  <a:pt x="1228510" y="475701"/>
                  <a:pt x="1223207" y="475701"/>
                </a:cubicBezTo>
                <a:lnTo>
                  <a:pt x="19994" y="475701"/>
                </a:lnTo>
                <a:cubicBezTo>
                  <a:pt x="8951" y="475701"/>
                  <a:pt x="0" y="466750"/>
                  <a:pt x="0" y="455707"/>
                </a:cubicBezTo>
                <a:lnTo>
                  <a:pt x="0" y="19994"/>
                </a:lnTo>
                <a:cubicBezTo>
                  <a:pt x="0" y="8951"/>
                  <a:pt x="8951" y="0"/>
                  <a:pt x="19994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0" name="TextBox 12"/>
          <p:cNvSpPr>
            <a:spLocks noGrp="1"/>
          </p:cNvSpPr>
          <p:nvPr/>
        </p:nvSpPr>
        <p:spPr>
          <a:xfrm>
            <a:off x="10652394" y="7700159"/>
            <a:ext cx="5042320" cy="74295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875" b="0">
                <a:solidFill>
                  <a:srgbClr val="282828"/>
                </a:solidFill>
              </a:defRPr>
            </a:defPPr>
          </a:lstStyle>
          <a:p>
            <a:pPr algn="l">
              <a:lnSpc>
                <a:spcPct val="130000"/>
              </a:lnSpc>
              <a:buNone/>
              <a:defRPr sz="1875" b="0">
                <a:solidFill>
                  <a:srgbClr val="282828"/>
                </a:solidFill>
              </a:defRPr>
            </a:pPr>
            <a:r>
              <a:rPr sz="1875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반복 CV 탐색: 0.1121→0.2047(+82.6%)</a:t>
            </a:r>
          </a:p>
          <a:p>
            <a:pPr algn="l">
              <a:lnSpc>
                <a:spcPct val="130000"/>
              </a:lnSpc>
              <a:buNone/>
              <a:defRPr sz="1875" b="0">
                <a:solidFill>
                  <a:srgbClr val="282828"/>
                </a:solidFill>
              </a:defRPr>
            </a:pPr>
            <a:r>
              <a:rPr sz="1875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미래 Session 3: 0.0381→0.3136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1" name="AutoShape 13"/>
          <p:cNvSpPr>
            <a:spLocks noGrp="1"/>
          </p:cNvSpPr>
          <p:nvPr/>
        </p:nvSpPr>
        <p:spPr>
          <a:xfrm>
            <a:off x="10652395" y="7433459"/>
            <a:ext cx="5042318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2" name="Freeform 15"/>
          <p:cNvSpPr>
            <a:spLocks noGrp="1"/>
          </p:cNvSpPr>
          <p:nvPr/>
        </p:nvSpPr>
        <p:spPr>
          <a:xfrm>
            <a:off x="9702850" y="6734028"/>
            <a:ext cx="638568" cy="63856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282828"/>
          </a:solidFill>
        </p:spPr>
        <p:txBody>
          <a:bodyPr anchor="ctr"/>
          <a:lstStyle/>
          <a:p>
            <a:pPr algn="ctr">
              <a:lnSpc>
                <a:spcPts val="3179"/>
              </a:lnSpc>
              <a:buNone/>
              <a:defRPr/>
            </a:pPr>
            <a:r>
              <a:rPr sz="2200" b="1" spc="165">
                <a:solidFill>
                  <a:srgbClr val="FFFFFF"/>
                </a:solidFill>
                <a:latin typeface="Pretendard Medium"/>
                <a:ea typeface="Pretendard Medium"/>
                <a:cs typeface="Pretendard SemiBold"/>
              </a:rPr>
              <a:t>04</a:t>
            </a:r>
          </a:p>
        </p:txBody>
      </p:sp>
      <p:sp>
        <p:nvSpPr>
          <p:cNvPr id="73" name="Freeform 18"/>
          <p:cNvSpPr>
            <a:spLocks noGrp="1"/>
          </p:cNvSpPr>
          <p:nvPr/>
        </p:nvSpPr>
        <p:spPr>
          <a:xfrm flipH="1">
            <a:off x="15515333" y="6904449"/>
            <a:ext cx="179380" cy="297726"/>
          </a:xfrm>
          <a:custGeom>
            <a:avLst/>
            <a:gdLst/>
            <a:ahLst/>
            <a:cxnLst/>
            <a:rect l="l" t="t" r="r" b="b"/>
            <a:pathLst>
              <a:path w="179380" h="297726">
                <a:moveTo>
                  <a:pt x="179380" y="0"/>
                </a:moveTo>
                <a:lnTo>
                  <a:pt x="0" y="0"/>
                </a:lnTo>
                <a:lnTo>
                  <a:pt x="0" y="297727"/>
                </a:lnTo>
                <a:lnTo>
                  <a:pt x="179380" y="297727"/>
                </a:lnTo>
                <a:lnTo>
                  <a:pt x="17938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4" name="직사각형 73"/>
          <p:cNvSpPr>
            <a:spLocks noGrp="1"/>
          </p:cNvSpPr>
          <p:nvPr/>
        </p:nvSpPr>
        <p:spPr>
          <a:xfrm>
            <a:off x="10652393" y="6811377"/>
            <a:ext cx="1440547" cy="4838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 sz="2600">
                <a:latin typeface="Pretendard SemiBold"/>
                <a:ea typeface="Pretendard SemiBold"/>
                <a:cs typeface="Pretendard SemiBold"/>
              </a:rPr>
              <a:t>성능 검증</a:t>
            </a:r>
          </a:p>
        </p:txBody>
      </p:sp>
      <p:sp>
        <p:nvSpPr>
          <p:cNvPr id="75" name="직사각형 74"/>
          <p:cNvSpPr>
            <a:spLocks noGrp="1"/>
          </p:cNvSpPr>
          <p:nvPr/>
        </p:nvSpPr>
        <p:spPr>
          <a:xfrm>
            <a:off x="914397" y="973455"/>
            <a:ext cx="2548893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04 RG3 모델 개발과 한계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2307402" y="1496622"/>
            <a:ext cx="13673196" cy="78937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RG3 모델선정 및 Temporal Validation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8" name="Tx1002"/>
          <p:cNvSpPr>
            <a:spLocks noGrp="1"/>
          </p:cNvSpPr>
          <p:nvPr/>
        </p:nvSpPr>
        <p:spPr>
          <a:xfrm>
            <a:off x="1988862" y="3500000"/>
            <a:ext cx="6850338" cy="43262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4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모델 선정</a:t>
            </a:r>
          </a:p>
        </p:txBody>
      </p:sp>
      <p:sp>
        <p:nvSpPr>
          <p:cNvPr id="29" name="HL1003"/>
          <p:cNvSpPr>
            <a:spLocks noGrp="1"/>
          </p:cNvSpPr>
          <p:nvPr/>
        </p:nvSpPr>
        <p:spPr>
          <a:xfrm>
            <a:off x="1943662" y="4180000"/>
            <a:ext cx="6650338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0" name="Tx1004"/>
          <p:cNvSpPr>
            <a:spLocks noGrp="1"/>
          </p:cNvSpPr>
          <p:nvPr/>
        </p:nvSpPr>
        <p:spPr>
          <a:xfrm>
            <a:off x="1988862" y="4450000"/>
            <a:ext cx="6850338" cy="25985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950" b="0">
                <a:solidFill>
                  <a:srgbClr val="585858"/>
                </a:solidFill>
              </a:defRPr>
            </a:defPPr>
          </a:lstStyle>
          <a:p>
            <a:pPr algn="l">
              <a:lnSpc>
                <a:spcPct val="20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반복 CV 탐색: LightGBM 0.2055</a:t>
            </a:r>
          </a:p>
          <a:p>
            <a:pPr algn="l">
              <a:lnSpc>
                <a:spcPct val="20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미래 Session 3: XGBoost 0.3136</a:t>
            </a:r>
          </a:p>
          <a:p>
            <a:pPr algn="l">
              <a:lnSpc>
                <a:spcPct val="20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시간순 검증을 고려해 기준 모델 채택</a:t>
            </a:r>
          </a:p>
          <a:p>
            <a:pPr algn="l">
              <a:lnSpc>
                <a:spcPct val="20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안정적인 미래 일반화는 미확보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4" name="Tx1008"/>
          <p:cNvSpPr>
            <a:spLocks noGrp="1"/>
          </p:cNvSpPr>
          <p:nvPr/>
        </p:nvSpPr>
        <p:spPr>
          <a:xfrm>
            <a:off x="9494000" y="3500000"/>
            <a:ext cx="6850338" cy="43262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4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Temporal Validation 결과 (PR-AUC)</a:t>
            </a:r>
          </a:p>
        </p:txBody>
      </p:sp>
      <p:sp>
        <p:nvSpPr>
          <p:cNvPr id="35" name="Tx1009"/>
          <p:cNvSpPr>
            <a:spLocks noGrp="1"/>
          </p:cNvSpPr>
          <p:nvPr/>
        </p:nvSpPr>
        <p:spPr>
          <a:xfrm>
            <a:off x="9494000" y="4550000"/>
            <a:ext cx="2434607" cy="489237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/>
            </a:pPr>
            <a:r>
              <a:rPr sz="17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Fold1 (1~2→3)</a:t>
            </a:r>
          </a:p>
        </p:txBody>
      </p:sp>
      <p:sp>
        <p:nvSpPr>
          <p:cNvPr id="36" name="Track1010"/>
          <p:cNvSpPr>
            <a:spLocks noGrp="1"/>
          </p:cNvSpPr>
          <p:nvPr/>
        </p:nvSpPr>
        <p:spPr>
          <a:xfrm>
            <a:off x="12027979" y="4619891"/>
            <a:ext cx="3130545" cy="349455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7" name="Fill1011"/>
          <p:cNvSpPr>
            <a:spLocks noGrp="1"/>
          </p:cNvSpPr>
          <p:nvPr/>
        </p:nvSpPr>
        <p:spPr>
          <a:xfrm>
            <a:off x="12027979" y="4619891"/>
            <a:ext cx="2454271" cy="34945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8" name="Tx1012"/>
          <p:cNvSpPr>
            <a:spLocks noGrp="1"/>
          </p:cNvSpPr>
          <p:nvPr/>
        </p:nvSpPr>
        <p:spPr>
          <a:xfrm>
            <a:off x="15277770" y="4550000"/>
            <a:ext cx="1093088" cy="489237"/>
          </a:xfrm>
          <a:prstGeom prst="rect">
            <a:avLst/>
          </a:prstGeom>
        </p:spPr>
        <p:txBody>
          <a:bodyPr wrap="none" lIns="0" tIns="0" rIns="0" bIns="0" anchor="t"/>
          <a:lstStyle>
            <a:defPPr algn="l">
              <a:defRPr sz="1700" b="1">
                <a:solidFill>
                  <a:srgbClr val="282828"/>
                </a:solidFill>
              </a:defRPr>
            </a:defPPr>
          </a:lstStyle>
          <a:p>
            <a:pPr algn="l">
              <a:buNone/>
              <a:defRPr sz="1700" b="1">
                <a:solidFill>
                  <a:srgbClr val="282828"/>
                </a:solidFill>
              </a:defRPr>
            </a:pPr>
            <a:r>
              <a:rPr sz="17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0.3136</a:t>
            </a:r>
          </a:p>
        </p:txBody>
      </p:sp>
      <p:sp>
        <p:nvSpPr>
          <p:cNvPr id="39" name="Tx1013"/>
          <p:cNvSpPr>
            <a:spLocks noGrp="1"/>
          </p:cNvSpPr>
          <p:nvPr/>
        </p:nvSpPr>
        <p:spPr>
          <a:xfrm>
            <a:off x="9494000" y="5179019"/>
            <a:ext cx="2434607" cy="489237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/>
            </a:pPr>
            <a:r>
              <a:rPr sz="17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Fold2 (1~3→4)</a:t>
            </a:r>
          </a:p>
        </p:txBody>
      </p:sp>
      <p:sp>
        <p:nvSpPr>
          <p:cNvPr id="40" name="Track1014"/>
          <p:cNvSpPr>
            <a:spLocks noGrp="1"/>
          </p:cNvSpPr>
          <p:nvPr/>
        </p:nvSpPr>
        <p:spPr>
          <a:xfrm>
            <a:off x="12027979" y="5248911"/>
            <a:ext cx="3130545" cy="349455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1" name="Fill1015"/>
          <p:cNvSpPr>
            <a:spLocks noGrp="1"/>
          </p:cNvSpPr>
          <p:nvPr/>
        </p:nvSpPr>
        <p:spPr>
          <a:xfrm>
            <a:off x="12027979" y="5248911"/>
            <a:ext cx="363845" cy="34945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2" name="Tx1016"/>
          <p:cNvSpPr>
            <a:spLocks noGrp="1"/>
          </p:cNvSpPr>
          <p:nvPr/>
        </p:nvSpPr>
        <p:spPr>
          <a:xfrm>
            <a:off x="15277770" y="5179019"/>
            <a:ext cx="1093088" cy="489237"/>
          </a:xfrm>
          <a:prstGeom prst="rect">
            <a:avLst/>
          </a:prstGeom>
        </p:spPr>
        <p:txBody>
          <a:bodyPr wrap="none" lIns="0" tIns="0" rIns="0" bIns="0" anchor="t"/>
          <a:lstStyle>
            <a:defPPr algn="l">
              <a:defRPr sz="1700" b="1">
                <a:solidFill>
                  <a:srgbClr val="282828"/>
                </a:solidFill>
              </a:defRPr>
            </a:defPPr>
          </a:lstStyle>
          <a:p>
            <a:pPr algn="l">
              <a:buNone/>
              <a:defRPr sz="1700" b="1">
                <a:solidFill>
                  <a:srgbClr val="282828"/>
                </a:solidFill>
              </a:defRPr>
            </a:pPr>
            <a:r>
              <a:rPr sz="17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0.0465</a:t>
            </a:r>
          </a:p>
        </p:txBody>
      </p:sp>
      <p:sp>
        <p:nvSpPr>
          <p:cNvPr id="43" name="Tx1017"/>
          <p:cNvSpPr>
            <a:spLocks noGrp="1"/>
          </p:cNvSpPr>
          <p:nvPr/>
        </p:nvSpPr>
        <p:spPr>
          <a:xfrm>
            <a:off x="9494000" y="5808039"/>
            <a:ext cx="2434607" cy="489237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/>
            </a:pPr>
            <a:r>
              <a:rPr sz="170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Fold3 (1~4→5)</a:t>
            </a:r>
          </a:p>
        </p:txBody>
      </p:sp>
      <p:sp>
        <p:nvSpPr>
          <p:cNvPr id="44" name="Track1018"/>
          <p:cNvSpPr>
            <a:spLocks noGrp="1"/>
          </p:cNvSpPr>
          <p:nvPr/>
        </p:nvSpPr>
        <p:spPr>
          <a:xfrm>
            <a:off x="12027979" y="5877930"/>
            <a:ext cx="3130545" cy="349455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5" name="Fill1019"/>
          <p:cNvSpPr>
            <a:spLocks noGrp="1"/>
          </p:cNvSpPr>
          <p:nvPr/>
        </p:nvSpPr>
        <p:spPr>
          <a:xfrm>
            <a:off x="12027979" y="5877930"/>
            <a:ext cx="752073" cy="34945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6" name="Tx1020"/>
          <p:cNvSpPr>
            <a:spLocks noGrp="1"/>
          </p:cNvSpPr>
          <p:nvPr/>
        </p:nvSpPr>
        <p:spPr>
          <a:xfrm>
            <a:off x="15277770" y="5808039"/>
            <a:ext cx="1093088" cy="489237"/>
          </a:xfrm>
          <a:prstGeom prst="rect">
            <a:avLst/>
          </a:prstGeom>
        </p:spPr>
        <p:txBody>
          <a:bodyPr wrap="none" lIns="0" tIns="0" rIns="0" bIns="0" anchor="t"/>
          <a:lstStyle>
            <a:defPPr algn="l">
              <a:defRPr sz="1700" b="1">
                <a:solidFill>
                  <a:srgbClr val="282828"/>
                </a:solidFill>
              </a:defRPr>
            </a:defPPr>
          </a:lstStyle>
          <a:p>
            <a:pPr algn="l">
              <a:buNone/>
              <a:defRPr sz="1700" b="1">
                <a:solidFill>
                  <a:srgbClr val="282828"/>
                </a:solidFill>
              </a:defRPr>
            </a:pPr>
            <a:r>
              <a:rPr sz="17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0.0961</a:t>
            </a:r>
          </a:p>
        </p:txBody>
      </p:sp>
      <p:sp>
        <p:nvSpPr>
          <p:cNvPr id="47" name="Tx1021"/>
          <p:cNvSpPr>
            <a:spLocks noGrp="1"/>
          </p:cNvSpPr>
          <p:nvPr/>
        </p:nvSpPr>
        <p:spPr>
          <a:xfrm>
            <a:off x="9494044" y="6437090"/>
            <a:ext cx="3810000" cy="489204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650" b="0">
                <a:solidFill>
                  <a:srgbClr val="585858"/>
                </a:solidFill>
              </a:defRPr>
            </a:defPPr>
          </a:lstStyle>
          <a:p>
            <a:pPr algn="l">
              <a:buNone/>
              <a:defRPr sz="1650" b="0">
                <a:solidFill>
                  <a:srgbClr val="585858"/>
                </a:solidFill>
              </a:defRPr>
            </a:pPr>
            <a:r>
              <a:rPr sz="16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Holdout (1~3→4~5)</a:t>
            </a:r>
            <a:endParaRPr sz="17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8" name="Track1022"/>
          <p:cNvSpPr>
            <a:spLocks noGrp="1"/>
          </p:cNvSpPr>
          <p:nvPr/>
        </p:nvSpPr>
        <p:spPr>
          <a:xfrm>
            <a:off x="12027979" y="6506950"/>
            <a:ext cx="3130545" cy="349455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9" name="Fill1023"/>
          <p:cNvSpPr>
            <a:spLocks noGrp="1"/>
          </p:cNvSpPr>
          <p:nvPr/>
        </p:nvSpPr>
        <p:spPr>
          <a:xfrm>
            <a:off x="12027979" y="6506950"/>
            <a:ext cx="324490" cy="34945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0" name="Tx1024"/>
          <p:cNvSpPr>
            <a:spLocks noGrp="1"/>
          </p:cNvSpPr>
          <p:nvPr/>
        </p:nvSpPr>
        <p:spPr>
          <a:xfrm>
            <a:off x="15277770" y="6437059"/>
            <a:ext cx="1093088" cy="489237"/>
          </a:xfrm>
          <a:prstGeom prst="rect">
            <a:avLst/>
          </a:prstGeom>
        </p:spPr>
        <p:txBody>
          <a:bodyPr wrap="none" lIns="0" tIns="0" rIns="0" bIns="0" anchor="t"/>
          <a:lstStyle>
            <a:defPPr algn="l">
              <a:defRPr sz="1700" b="1">
                <a:solidFill>
                  <a:srgbClr val="282828"/>
                </a:solidFill>
              </a:defRPr>
            </a:defPPr>
          </a:lstStyle>
          <a:p>
            <a:pPr algn="l">
              <a:buNone/>
              <a:defRPr sz="1700" b="1">
                <a:solidFill>
                  <a:srgbClr val="282828"/>
                </a:solidFill>
              </a:defRPr>
            </a:pPr>
            <a:r>
              <a:rPr sz="17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0.0415</a:t>
            </a:r>
          </a:p>
        </p:txBody>
      </p:sp>
      <p:sp>
        <p:nvSpPr>
          <p:cNvPr id="51" name="VL1025"/>
          <p:cNvSpPr>
            <a:spLocks noGrp="1"/>
          </p:cNvSpPr>
          <p:nvPr/>
        </p:nvSpPr>
        <p:spPr>
          <a:xfrm rot="5400000">
            <a:off x="6994000" y="5159900"/>
            <a:ext cx="430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2" name="Rect1026"/>
          <p:cNvSpPr>
            <a:spLocks noGrp="1"/>
          </p:cNvSpPr>
          <p:nvPr/>
        </p:nvSpPr>
        <p:spPr>
          <a:xfrm>
            <a:off x="1943662" y="7734300"/>
            <a:ext cx="14400676" cy="950000"/>
          </a:xfrm>
          <a:prstGeom prst="rect">
            <a:avLst/>
          </a:prstGeom>
          <a:noFill/>
          <a:ln w="12700">
            <a:solidFill>
              <a:srgbClr val="E3E3E3"/>
            </a:solidFill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3" name="Tx1027"/>
          <p:cNvSpPr>
            <a:spLocks noGrp="1"/>
          </p:cNvSpPr>
          <p:nvPr/>
        </p:nvSpPr>
        <p:spPr>
          <a:xfrm>
            <a:off x="2293662" y="7734300"/>
            <a:ext cx="1500000" cy="95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l">
              <a:buNone/>
              <a:defRPr/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     한계</a:t>
            </a:r>
          </a:p>
        </p:txBody>
      </p:sp>
      <p:sp>
        <p:nvSpPr>
          <p:cNvPr id="54" name="Tx1028"/>
          <p:cNvSpPr>
            <a:spLocks noGrp="1"/>
          </p:cNvSpPr>
          <p:nvPr/>
        </p:nvSpPr>
        <p:spPr>
          <a:xfrm>
            <a:off x="4161750" y="7866369"/>
            <a:ext cx="12000676" cy="685862"/>
          </a:xfrm>
          <a:prstGeom prst="rect">
            <a:avLst/>
          </a:prstGeom>
        </p:spPr>
        <p:txBody>
          <a:bodyPr lIns="0" tIns="0" rIns="0" bIns="0" anchor="ctr" anchorCtr="0"/>
          <a:lstStyle>
            <a:defPPr algn="l">
              <a:defRPr sz="1950" b="0">
                <a:solidFill>
                  <a:srgbClr val="585858"/>
                </a:solidFill>
              </a:defRPr>
            </a:defPPr>
          </a:lstStyle>
          <a:p>
            <a:pPr algn="l"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Rolling PR-AUC 0.0465~0.3136 · Final Holdout 0.0415(불량률 0.0400, Lift 1.0365배)</a:t>
            </a:r>
          </a:p>
          <a:p>
            <a:pPr algn="l"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Session별 변동이 커 안정적인 미래 일반화는 확보하지 못했습니다.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7" name="직사각형 56"/>
          <p:cNvSpPr>
            <a:spLocks noGrp="1"/>
          </p:cNvSpPr>
          <p:nvPr/>
        </p:nvSpPr>
        <p:spPr>
          <a:xfrm>
            <a:off x="914397" y="973455"/>
            <a:ext cx="2548893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04 RG3 모델 개발과 한계</a:t>
            </a:r>
          </a:p>
        </p:txBody>
      </p:sp>
      <p:sp>
        <p:nvSpPr>
          <p:cNvPr id="58" name="검증 범위 및 설명"/>
          <p:cNvSpPr>
            <a:spLocks noGrp="1"/>
          </p:cNvSpPr>
          <p:nvPr/>
        </p:nvSpPr>
        <p:spPr>
          <a:xfrm>
            <a:off x="9496425" y="7162800"/>
            <a:ext cx="6858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6B6B6B"/>
                </a:solidFill>
              </a:defRPr>
            </a:defPPr>
          </a:lstStyle>
          <a:p>
            <a:pPr algn="l">
              <a:defRPr sz="1650" b="0">
                <a:solidFill>
                  <a:srgbClr val="6B6B6B"/>
                </a:solidFill>
              </a:defRPr>
            </a:pPr>
            <a:r>
              <a:rPr sz="1400" b="0">
                <a:solidFill>
                  <a:srgbClr val="6B6B6B"/>
                </a:solidFill>
                <a:latin typeface="Pretendard Medium"/>
                <a:ea typeface="Pretendard Medium"/>
              </a:rPr>
              <a:t>Rolling은 평가 Session을 다음 Fold 학습에 포함하며, 고정 Final Holdout과 별도 평가입니다.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RG3 실패분석 및 재검증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9" name="Freeform 9"/>
          <p:cNvSpPr>
            <a:spLocks noGrp="1"/>
          </p:cNvSpPr>
          <p:nvPr/>
        </p:nvSpPr>
        <p:spPr>
          <a:xfrm>
            <a:off x="1943662" y="7156851"/>
            <a:ext cx="14400676" cy="1616165"/>
          </a:xfrm>
          <a:custGeom>
            <a:avLst/>
            <a:gdLst/>
            <a:ahLst/>
            <a:cxnLst/>
            <a:rect l="l" t="t" r="r" b="b"/>
            <a:pathLst>
              <a:path w="2645347" h="296883">
                <a:moveTo>
                  <a:pt x="9677" y="0"/>
                </a:moveTo>
                <a:lnTo>
                  <a:pt x="2635670" y="0"/>
                </a:lnTo>
                <a:cubicBezTo>
                  <a:pt x="2638236" y="0"/>
                  <a:pt x="2640698" y="1020"/>
                  <a:pt x="2642513" y="2834"/>
                </a:cubicBezTo>
                <a:cubicBezTo>
                  <a:pt x="2644327" y="4649"/>
                  <a:pt x="2645347" y="7110"/>
                  <a:pt x="2645347" y="9677"/>
                </a:cubicBezTo>
                <a:lnTo>
                  <a:pt x="2645347" y="287206"/>
                </a:lnTo>
                <a:cubicBezTo>
                  <a:pt x="2645347" y="292551"/>
                  <a:pt x="2641014" y="296883"/>
                  <a:pt x="2635670" y="296883"/>
                </a:cubicBezTo>
                <a:lnTo>
                  <a:pt x="9677" y="296883"/>
                </a:lnTo>
                <a:cubicBezTo>
                  <a:pt x="7110" y="296883"/>
                  <a:pt x="4649" y="295863"/>
                  <a:pt x="2834" y="294049"/>
                </a:cubicBezTo>
                <a:cubicBezTo>
                  <a:pt x="1020" y="292234"/>
                  <a:pt x="0" y="289773"/>
                  <a:pt x="0" y="287206"/>
                </a:cubicBezTo>
                <a:lnTo>
                  <a:pt x="0" y="9677"/>
                </a:lnTo>
                <a:cubicBezTo>
                  <a:pt x="0" y="4333"/>
                  <a:pt x="4333" y="0"/>
                  <a:pt x="9677" y="0"/>
                </a:cubicBezTo>
                <a:close/>
              </a:path>
            </a:pathLst>
          </a:custGeom>
          <a:solidFill>
            <a:srgbClr val="EDEDED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</a:endParaRPr>
          </a:p>
        </p:txBody>
      </p:sp>
      <p:sp>
        <p:nvSpPr>
          <p:cNvPr id="23" name="TextBox 23"/>
          <p:cNvSpPr>
            <a:spLocks noGrp="1"/>
          </p:cNvSpPr>
          <p:nvPr/>
        </p:nvSpPr>
        <p:spPr>
          <a:xfrm>
            <a:off x="3276600" y="7700247"/>
            <a:ext cx="1524000" cy="5293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73"/>
              </a:lnSpc>
              <a:spcBef>
                <a:spcPct val="0"/>
              </a:spcBef>
              <a:buNone/>
              <a:defRPr/>
            </a:pPr>
            <a:r>
              <a:rPr sz="2981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제언</a:t>
            </a:r>
          </a:p>
        </p:txBody>
      </p:sp>
      <p:sp>
        <p:nvSpPr>
          <p:cNvPr id="24" name="Freeform 24"/>
          <p:cNvSpPr>
            <a:spLocks noGrp="1"/>
          </p:cNvSpPr>
          <p:nvPr/>
        </p:nvSpPr>
        <p:spPr>
          <a:xfrm>
            <a:off x="2562730" y="7755064"/>
            <a:ext cx="378528" cy="419739"/>
          </a:xfrm>
          <a:custGeom>
            <a:avLst/>
            <a:gdLst/>
            <a:ahLst/>
            <a:cxnLst/>
            <a:rect l="l" t="t" r="r" b="b"/>
            <a:pathLst>
              <a:path w="378528" h="419739">
                <a:moveTo>
                  <a:pt x="0" y="0"/>
                </a:moveTo>
                <a:lnTo>
                  <a:pt x="378529" y="0"/>
                </a:lnTo>
                <a:lnTo>
                  <a:pt x="378529" y="419739"/>
                </a:lnTo>
                <a:lnTo>
                  <a:pt x="0" y="419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txBody>
          <a:bodyPr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5" name="TextBox 25"/>
          <p:cNvSpPr>
            <a:spLocks noGrp="1"/>
          </p:cNvSpPr>
          <p:nvPr/>
        </p:nvSpPr>
        <p:spPr>
          <a:xfrm>
            <a:off x="4953000" y="7760480"/>
            <a:ext cx="10896600" cy="40244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just">
              <a:lnSpc>
                <a:spcPts val="3161"/>
              </a:lnSpc>
              <a:buNone/>
              <a:defRPr/>
            </a:pPr>
            <a:r>
              <a:rPr sz="2200" u="none" strike="noStrike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Hard Defect와 Session 변동을 고려해 고정 Threshold가 아닌 보조 Risk Ranking으로만 활용</a:t>
            </a:r>
            <a:endParaRPr sz="2200" u="none" strike="noStrike">
              <a:solidFill>
                <a:srgbClr val="282828"/>
              </a:solidFill>
              <a:latin typeface="Pretendard Medium"/>
              <a:ea typeface="Pretendard Medium"/>
              <a:cs typeface="Pretendard"/>
            </a:endParaRPr>
          </a:p>
        </p:txBody>
      </p:sp>
      <p:sp>
        <p:nvSpPr>
          <p:cNvPr id="26" name="AutoShape 26"/>
          <p:cNvSpPr>
            <a:spLocks noGrp="1"/>
          </p:cNvSpPr>
          <p:nvPr/>
        </p:nvSpPr>
        <p:spPr>
          <a:xfrm>
            <a:off x="4495800" y="7706341"/>
            <a:ext cx="0" cy="517185"/>
          </a:xfrm>
          <a:prstGeom prst="line">
            <a:avLst/>
          </a:prstGeom>
          <a:ln w="28575" cap="flat">
            <a:solidFill>
              <a:srgbClr val="282828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7" name="AutoShape 27"/>
          <p:cNvSpPr>
            <a:spLocks noGrp="1"/>
          </p:cNvSpPr>
          <p:nvPr/>
        </p:nvSpPr>
        <p:spPr>
          <a:xfrm>
            <a:off x="9220200" y="3727107"/>
            <a:ext cx="0" cy="2661335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2" name="Freeform 13"/>
          <p:cNvSpPr>
            <a:spLocks noGrp="1"/>
          </p:cNvSpPr>
          <p:nvPr/>
        </p:nvSpPr>
        <p:spPr>
          <a:xfrm>
            <a:off x="10632521" y="3651392"/>
            <a:ext cx="4338158" cy="641065"/>
          </a:xfrm>
          <a:custGeom>
            <a:avLst/>
            <a:gdLst/>
            <a:ahLst/>
            <a:cxnLst/>
            <a:rect l="l" t="t" r="r" b="b"/>
            <a:pathLst>
              <a:path w="5427367" h="802021">
                <a:moveTo>
                  <a:pt x="70939" y="0"/>
                </a:moveTo>
                <a:lnTo>
                  <a:pt x="5356428" y="0"/>
                </a:lnTo>
                <a:cubicBezTo>
                  <a:pt x="5375242" y="0"/>
                  <a:pt x="5393286" y="7474"/>
                  <a:pt x="5406589" y="20777"/>
                </a:cubicBezTo>
                <a:cubicBezTo>
                  <a:pt x="5419893" y="34081"/>
                  <a:pt x="5427367" y="52125"/>
                  <a:pt x="5427367" y="70939"/>
                </a:cubicBezTo>
                <a:lnTo>
                  <a:pt x="5427367" y="731082"/>
                </a:lnTo>
                <a:cubicBezTo>
                  <a:pt x="5427367" y="770260"/>
                  <a:pt x="5395606" y="802021"/>
                  <a:pt x="5356428" y="802021"/>
                </a:cubicBezTo>
                <a:lnTo>
                  <a:pt x="70939" y="802021"/>
                </a:lnTo>
                <a:cubicBezTo>
                  <a:pt x="52125" y="802021"/>
                  <a:pt x="34081" y="794547"/>
                  <a:pt x="20777" y="781243"/>
                </a:cubicBezTo>
                <a:cubicBezTo>
                  <a:pt x="7474" y="767940"/>
                  <a:pt x="0" y="749896"/>
                  <a:pt x="0" y="731082"/>
                </a:cubicBezTo>
                <a:lnTo>
                  <a:pt x="0" y="70939"/>
                </a:lnTo>
                <a:cubicBezTo>
                  <a:pt x="0" y="52125"/>
                  <a:pt x="7474" y="34081"/>
                  <a:pt x="20777" y="20777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282828"/>
          </a:solidFill>
          <a:ln cap="rnd">
            <a:noFill/>
            <a:prstDash val="solid"/>
            <a:round/>
          </a:ln>
        </p:spPr>
        <p:txBody>
          <a:bodyPr anchor="ctr"/>
          <a:lstStyle/>
          <a:p>
            <a:pPr algn="ctr">
              <a:lnSpc>
                <a:spcPts val="3110"/>
              </a:lnSpc>
              <a:buNone/>
              <a:defRPr/>
            </a:pPr>
            <a:r>
              <a:rPr sz="22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Robust Feature 재검증</a:t>
            </a:r>
            <a:endParaRPr sz="2200">
              <a:solidFill>
                <a:srgbClr val="FFFFFF"/>
              </a:solidFill>
              <a:latin typeface="Pretendard Medium"/>
              <a:ea typeface="Pretendard Medium"/>
              <a:cs typeface="Pretendard SemiBold"/>
            </a:endParaRPr>
          </a:p>
        </p:txBody>
      </p:sp>
      <p:sp>
        <p:nvSpPr>
          <p:cNvPr id="34" name="TextBox 21"/>
          <p:cNvSpPr>
            <a:spLocks noGrp="1"/>
          </p:cNvSpPr>
          <p:nvPr/>
        </p:nvSpPr>
        <p:spPr>
          <a:xfrm>
            <a:off x="10401300" y="4635486"/>
            <a:ext cx="5219700" cy="17145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875" b="0">
                <a:solidFill>
                  <a:srgbClr val="282828"/>
                </a:solidFill>
              </a:defRPr>
            </a:defPPr>
          </a:lstStyle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875" b="0">
                <a:solidFill>
                  <a:srgbClr val="282828"/>
                </a:solidFill>
              </a:defRPr>
            </a:pPr>
            <a:r>
              <a:rPr sz="1875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별도 탐색: Robust Z·Normalized EWMA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875" b="0">
                <a:solidFill>
                  <a:srgbClr val="282828"/>
                </a:solidFill>
              </a:defRPr>
            </a:pPr>
            <a:r>
              <a:rPr sz="1875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3개 Fold 중 1개만 개선, 우위 없음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875" b="0">
                <a:solidFill>
                  <a:srgbClr val="282828"/>
                </a:solidFill>
              </a:defRPr>
            </a:pPr>
            <a:r>
              <a:rPr sz="1875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기존 Absolute EWMA5(23개) 유지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875" b="0">
                <a:solidFill>
                  <a:srgbClr val="282828"/>
                </a:solidFill>
              </a:defRPr>
            </a:pPr>
            <a:r>
              <a:rPr sz="1875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보고서 탐색결과와 공식 CSV를 구분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6" name="Freeform 13"/>
          <p:cNvSpPr>
            <a:spLocks noGrp="1"/>
          </p:cNvSpPr>
          <p:nvPr/>
        </p:nvSpPr>
        <p:spPr>
          <a:xfrm>
            <a:off x="3317321" y="3652837"/>
            <a:ext cx="4338158" cy="641065"/>
          </a:xfrm>
          <a:custGeom>
            <a:avLst/>
            <a:gdLst/>
            <a:ahLst/>
            <a:cxnLst/>
            <a:rect l="l" t="t" r="r" b="b"/>
            <a:pathLst>
              <a:path w="5427367" h="802021">
                <a:moveTo>
                  <a:pt x="70939" y="0"/>
                </a:moveTo>
                <a:lnTo>
                  <a:pt x="5356428" y="0"/>
                </a:lnTo>
                <a:cubicBezTo>
                  <a:pt x="5375242" y="0"/>
                  <a:pt x="5393286" y="7474"/>
                  <a:pt x="5406589" y="20777"/>
                </a:cubicBezTo>
                <a:cubicBezTo>
                  <a:pt x="5419893" y="34081"/>
                  <a:pt x="5427367" y="52125"/>
                  <a:pt x="5427367" y="70939"/>
                </a:cubicBezTo>
                <a:lnTo>
                  <a:pt x="5427367" y="731082"/>
                </a:lnTo>
                <a:cubicBezTo>
                  <a:pt x="5427367" y="770260"/>
                  <a:pt x="5395606" y="802021"/>
                  <a:pt x="5356428" y="802021"/>
                </a:cubicBezTo>
                <a:lnTo>
                  <a:pt x="70939" y="802021"/>
                </a:lnTo>
                <a:cubicBezTo>
                  <a:pt x="52125" y="802021"/>
                  <a:pt x="34081" y="794547"/>
                  <a:pt x="20777" y="781243"/>
                </a:cubicBezTo>
                <a:cubicBezTo>
                  <a:pt x="7474" y="767940"/>
                  <a:pt x="0" y="749896"/>
                  <a:pt x="0" y="731082"/>
                </a:cubicBezTo>
                <a:lnTo>
                  <a:pt x="0" y="70939"/>
                </a:lnTo>
                <a:cubicBezTo>
                  <a:pt x="0" y="52125"/>
                  <a:pt x="7474" y="34081"/>
                  <a:pt x="20777" y="20777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282828"/>
          </a:solidFill>
          <a:ln cap="rnd">
            <a:noFill/>
            <a:prstDash val="solid"/>
            <a:round/>
          </a:ln>
        </p:spPr>
        <p:txBody>
          <a:bodyPr anchor="ctr"/>
          <a:lstStyle/>
          <a:p>
            <a:pPr algn="ctr">
              <a:lnSpc>
                <a:spcPts val="3110"/>
              </a:lnSpc>
              <a:buNone/>
              <a:defRPr/>
            </a:pPr>
            <a:r>
              <a:rPr sz="22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Hard Defect 분석</a:t>
            </a:r>
          </a:p>
        </p:txBody>
      </p:sp>
      <p:sp>
        <p:nvSpPr>
          <p:cNvPr id="37" name="TextBox 21"/>
          <p:cNvSpPr>
            <a:spLocks noGrp="1"/>
          </p:cNvSpPr>
          <p:nvPr/>
        </p:nvSpPr>
        <p:spPr>
          <a:xfrm>
            <a:off x="3162300" y="4636931"/>
            <a:ext cx="5067300" cy="177339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1950" b="0">
                <a:solidFill>
                  <a:srgbClr val="282828"/>
                </a:solidFill>
              </a:defRPr>
            </a:defPPr>
          </a:lstStyle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공식 Fold 1 · Session 3 · 총 197건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불량 Risk Rank 2~180위로 분산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전량 포착: 180/197건 검사(91.37%)</a:t>
            </a:r>
          </a:p>
          <a:p>
            <a:pPr marL="410209" lvl="1" indent="-205105" algn="l">
              <a:lnSpc>
                <a:spcPct val="150000"/>
              </a:lnSpc>
              <a:buFont typeface="Arial"/>
              <a:buChar char="•"/>
              <a:defRPr sz="1950" b="0">
                <a:solidFill>
                  <a:srgbClr val="282828"/>
                </a:solidFill>
              </a:defRPr>
            </a:pPr>
            <a:r>
              <a:rPr sz="1950" b="0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미탐을 줄일수록 검사대상 증가</a:t>
            </a:r>
            <a:endParaRPr sz="2000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9" name="직사각형 38"/>
          <p:cNvSpPr>
            <a:spLocks noGrp="1"/>
          </p:cNvSpPr>
          <p:nvPr/>
        </p:nvSpPr>
        <p:spPr>
          <a:xfrm>
            <a:off x="914397" y="973455"/>
            <a:ext cx="2548893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04 RG3 모델 개발과 한계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2857500" y="1496663"/>
            <a:ext cx="12573000" cy="79286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algn="l">
              <a:defRPr sz="5100" b="1">
                <a:solidFill>
                  <a:srgbClr val="282828"/>
                </a:solidFill>
              </a:defRPr>
            </a:defPPr>
          </a:lstStyle>
          <a:p>
            <a:pPr algn="ctr">
              <a:lnSpc>
                <a:spcPts val="6243"/>
              </a:lnSpc>
              <a:buNone/>
              <a:defRPr sz="5100" b="1">
                <a:solidFill>
                  <a:srgbClr val="282828"/>
                </a:solidFill>
              </a:defRPr>
            </a:pPr>
            <a:r>
              <a:rPr sz="5100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RG3 Cycle-level 사후 구조진단</a:t>
            </a:r>
            <a:endParaRPr sz="5476" b="1" spc="-54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5" name="Tx1002"/>
          <p:cNvSpPr>
            <a:spLocks noGrp="1"/>
          </p:cNvSpPr>
          <p:nvPr/>
        </p:nvSpPr>
        <p:spPr>
          <a:xfrm>
            <a:off x="1943662" y="3215875"/>
            <a:ext cx="6850338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Side 변화</a:t>
            </a:r>
          </a:p>
        </p:txBody>
      </p:sp>
      <p:sp>
        <p:nvSpPr>
          <p:cNvPr id="36" name="Tx1003"/>
          <p:cNvSpPr>
            <a:spLocks noGrp="1"/>
          </p:cNvSpPr>
          <p:nvPr/>
        </p:nvSpPr>
        <p:spPr>
          <a:xfrm>
            <a:off x="1943662" y="3725900"/>
            <a:ext cx="6850338" cy="9711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950" b="0">
                <a:solidFill>
                  <a:srgbClr val="585858"/>
                </a:solidFill>
              </a:defRPr>
            </a:defPPr>
          </a:lstStyle>
          <a:p>
            <a:pPr algn="l">
              <a:lnSpc>
                <a:spcPct val="15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11/04 불량 7건: LH 5건·RH 2건</a:t>
            </a:r>
          </a:p>
          <a:p>
            <a:pPr algn="l">
              <a:lnSpc>
                <a:spcPct val="15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평가 35 Cycle · 불량 7 Cycle(20%)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7" name="Tx1004"/>
          <p:cNvSpPr>
            <a:spLocks noGrp="1"/>
          </p:cNvSpPr>
          <p:nvPr/>
        </p:nvSpPr>
        <p:spPr>
          <a:xfrm>
            <a:off x="9494000" y="3215875"/>
            <a:ext cx="6850338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2243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Target 재정의</a:t>
            </a:r>
          </a:p>
        </p:txBody>
      </p:sp>
      <p:sp>
        <p:nvSpPr>
          <p:cNvPr id="38" name="Tx1005"/>
          <p:cNvSpPr>
            <a:spLocks noGrp="1"/>
          </p:cNvSpPr>
          <p:nvPr/>
        </p:nvSpPr>
        <p:spPr>
          <a:xfrm>
            <a:off x="9494044" y="3725894"/>
            <a:ext cx="6850380" cy="9525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950" b="0">
                <a:solidFill>
                  <a:srgbClr val="585858"/>
                </a:solidFill>
              </a:defRPr>
            </a:defPPr>
          </a:lstStyle>
          <a:p>
            <a:pPr algn="l">
              <a:lnSpc>
                <a:spcPct val="15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LH/RH 묶기 → Cycle_Defect 재정의</a:t>
            </a:r>
          </a:p>
          <a:p>
            <a:pPr algn="l">
              <a:lnSpc>
                <a:spcPct val="150000"/>
              </a:lnSpc>
              <a:buNone/>
              <a:defRPr sz="1950" b="0">
                <a:solidFill>
                  <a:srgbClr val="585858"/>
                </a:solidFill>
              </a:defRPr>
            </a:pPr>
            <a:r>
              <a:rPr sz="1950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→ 별도 모델 → 11/04 사후 구조진단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9" name="VL1006"/>
          <p:cNvSpPr>
            <a:spLocks noGrp="1"/>
          </p:cNvSpPr>
          <p:nvPr/>
        </p:nvSpPr>
        <p:spPr>
          <a:xfrm rot="5400000">
            <a:off x="8369000" y="3965875"/>
            <a:ext cx="155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0" name="HL1007"/>
          <p:cNvSpPr>
            <a:spLocks noGrp="1"/>
          </p:cNvSpPr>
          <p:nvPr/>
        </p:nvSpPr>
        <p:spPr>
          <a:xfrm>
            <a:off x="1943662" y="5057775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1" name="Tx1008"/>
          <p:cNvSpPr>
            <a:spLocks noGrp="1"/>
          </p:cNvSpPr>
          <p:nvPr/>
        </p:nvSpPr>
        <p:spPr>
          <a:xfrm>
            <a:off x="1943672" y="5191125"/>
            <a:ext cx="6850380" cy="950024"/>
          </a:xfrm>
          <a:prstGeom prst="rect">
            <a:avLst/>
          </a:prstGeom>
        </p:spPr>
        <p:txBody>
          <a:bodyPr lIns="0" tIns="0" rIns="0" bIns="0" anchor="ctr" anchorCtr="0"/>
          <a:lstStyle>
            <a:defPPr algn="l">
              <a:defRPr sz="5000" b="1">
                <a:solidFill>
                  <a:srgbClr val="282828"/>
                </a:solidFill>
              </a:defRPr>
            </a:defPPr>
          </a:lstStyle>
          <a:p>
            <a:pPr algn="l">
              <a:buNone/>
              <a:defRPr sz="5000" b="1">
                <a:solidFill>
                  <a:srgbClr val="282828"/>
                </a:solidFill>
              </a:defRPr>
            </a:pPr>
            <a:r>
              <a:rPr sz="40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0.4124</a:t>
            </a:r>
          </a:p>
        </p:txBody>
      </p:sp>
      <p:sp>
        <p:nvSpPr>
          <p:cNvPr id="42" name="Tx1009"/>
          <p:cNvSpPr>
            <a:spLocks noGrp="1"/>
          </p:cNvSpPr>
          <p:nvPr/>
        </p:nvSpPr>
        <p:spPr>
          <a:xfrm>
            <a:off x="1943672" y="6143625"/>
            <a:ext cx="6850380" cy="419957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00" b="0">
                <a:solidFill>
                  <a:srgbClr val="6B6B6B"/>
                </a:solidFill>
              </a:defRPr>
            </a:defPPr>
          </a:lstStyle>
          <a:p>
            <a:pPr algn="l"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Cycle PR-AUC · 사후 분석</a:t>
            </a:r>
            <a:endParaRPr sz="1800">
              <a:solidFill>
                <a:srgbClr val="6B6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3" name="Tx1010"/>
          <p:cNvSpPr>
            <a:spLocks noGrp="1"/>
          </p:cNvSpPr>
          <p:nvPr/>
        </p:nvSpPr>
        <p:spPr>
          <a:xfrm>
            <a:off x="9494044" y="5191125"/>
            <a:ext cx="6850380" cy="950024"/>
          </a:xfrm>
          <a:prstGeom prst="rect">
            <a:avLst/>
          </a:prstGeom>
        </p:spPr>
        <p:txBody>
          <a:bodyPr lIns="0" tIns="0" rIns="0" bIns="0" anchor="ctr" anchorCtr="0"/>
          <a:lstStyle>
            <a:defPPr algn="l">
              <a:defRPr sz="5000" b="1">
                <a:solidFill>
                  <a:srgbClr val="282828"/>
                </a:solidFill>
              </a:defRPr>
            </a:defPPr>
          </a:lstStyle>
          <a:p>
            <a:pPr algn="l">
              <a:buNone/>
              <a:defRPr sz="5000" b="1">
                <a:solidFill>
                  <a:srgbClr val="282828"/>
                </a:solidFill>
              </a:defRPr>
            </a:pPr>
            <a:r>
              <a:rPr sz="4000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2.06×</a:t>
            </a:r>
          </a:p>
        </p:txBody>
      </p:sp>
      <p:sp>
        <p:nvSpPr>
          <p:cNvPr id="44" name="Tx1011"/>
          <p:cNvSpPr>
            <a:spLocks noGrp="1"/>
          </p:cNvSpPr>
          <p:nvPr/>
        </p:nvSpPr>
        <p:spPr>
          <a:xfrm>
            <a:off x="9494044" y="6143625"/>
            <a:ext cx="6850380" cy="419957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00" b="0">
                <a:solidFill>
                  <a:srgbClr val="6B6B6B"/>
                </a:solidFill>
              </a:defRPr>
            </a:defPPr>
          </a:lstStyle>
          <a:p>
            <a:pPr algn="l">
              <a:buNone/>
              <a:defRPr sz="1800" b="0">
                <a:solidFill>
                  <a:srgbClr val="6B6B6B"/>
                </a:solidFill>
              </a:defRPr>
            </a:pPr>
            <a:r>
              <a:rPr sz="18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PR Lift (불량률 0.20 대비)</a:t>
            </a:r>
            <a:endParaRPr sz="1800">
              <a:solidFill>
                <a:srgbClr val="6B6B6B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5" name="VL1012"/>
          <p:cNvSpPr>
            <a:spLocks noGrp="1"/>
          </p:cNvSpPr>
          <p:nvPr/>
        </p:nvSpPr>
        <p:spPr>
          <a:xfrm rot="5400000">
            <a:off x="8477917" y="6028658"/>
            <a:ext cx="1332166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6" name="HL1013"/>
          <p:cNvSpPr>
            <a:spLocks noGrp="1"/>
          </p:cNvSpPr>
          <p:nvPr/>
        </p:nvSpPr>
        <p:spPr>
          <a:xfrm>
            <a:off x="1943662" y="7505700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2" name="직사각형 51"/>
          <p:cNvSpPr>
            <a:spLocks noGrp="1"/>
          </p:cNvSpPr>
          <p:nvPr/>
        </p:nvSpPr>
        <p:spPr>
          <a:xfrm>
            <a:off x="914397" y="973455"/>
            <a:ext cx="2548893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04 RG3 모델 개발과 한계</a:t>
            </a:r>
          </a:p>
        </p:txBody>
      </p:sp>
      <p:graphicFrame>
        <p:nvGraphicFramePr>
          <p:cNvPr id="53" name="표 52"/>
          <p:cNvGraphicFramePr/>
          <p:nvPr/>
        </p:nvGraphicFramePr>
        <p:xfrm>
          <a:off x="1943100" y="6858000"/>
          <a:ext cx="14401800" cy="1695452"/>
        </p:xfrm>
        <a:graphic>
          <a:graphicData uri="http://schemas.openxmlformats.org/drawingml/2006/table">
            <a:tbl>
              <a:tblPr firstRow="1" bandRow="1"/>
              <a:tblGrid>
                <a:gridCol w="440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863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상위 검사 정책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검사 Cycle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불량 포착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</a:rPr>
                        <a:t>Recall</a:t>
                      </a:r>
                    </a:p>
                  </a:txBody>
                  <a:tcPr anchor="ctr"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20%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2 / 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28.57%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5 /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71.43%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50%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18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5 / 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b="0">
                          <a:solidFill>
                            <a:srgbClr val="282828"/>
                          </a:solidFill>
                          <a:latin typeface="Pretendard Medium"/>
                          <a:ea typeface="Pretendard Medium"/>
                        </a:rPr>
                        <a:t>71.43%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" name="검증 범위 및 설명"/>
          <p:cNvSpPr>
            <a:spLocks noGrp="1"/>
          </p:cNvSpPr>
          <p:nvPr/>
        </p:nvSpPr>
        <p:spPr>
          <a:xfrm>
            <a:off x="1943100" y="8705850"/>
            <a:ext cx="144018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6B6B6B"/>
                </a:solidFill>
              </a:defRPr>
            </a:defPPr>
          </a:lstStyle>
          <a:p>
            <a:pPr algn="l">
              <a:defRPr sz="1725" b="0">
                <a:solidFill>
                  <a:srgbClr val="6B6B6B"/>
                </a:solidFill>
              </a:defRPr>
            </a:pPr>
            <a:r>
              <a:rPr sz="1725" b="0">
                <a:solidFill>
                  <a:srgbClr val="6B6B6B"/>
                </a:solidFill>
                <a:latin typeface="Pretendard Medium"/>
                <a:ea typeface="Pretendard Medium"/>
              </a:rPr>
              <a:t>RH Final Holdout 0.0415를 대체하지 않는 별도 사후 분석 · 상위 50%는 올림 적용(18/35=51.43%)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>
            <a:spLocks noGrp="1"/>
          </p:cNvSpPr>
          <p:nvPr/>
        </p:nvSpPr>
        <p:spPr>
          <a:xfrm>
            <a:off x="4614805" y="1496622"/>
            <a:ext cx="9058390" cy="7893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243"/>
              </a:lnSpc>
              <a:buNone/>
              <a:defRPr/>
            </a:pPr>
            <a:r>
              <a:rPr sz="5476" b="1" spc="-54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현장 적용 및 최종 결론</a:t>
            </a: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943662" y="2708213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8" name="Tx1002"/>
          <p:cNvSpPr>
            <a:spLocks noGrp="1"/>
          </p:cNvSpPr>
          <p:nvPr/>
        </p:nvSpPr>
        <p:spPr>
          <a:xfrm>
            <a:off x="1943662" y="3000375"/>
            <a:ext cx="14400676" cy="150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2925" b="1">
                <a:solidFill>
                  <a:srgbClr val="282828"/>
                </a:solidFill>
              </a:defRPr>
            </a:defPPr>
          </a:lstStyle>
          <a:p>
            <a:pPr algn="l">
              <a:lnSpc>
                <a:spcPct val="150000"/>
              </a:lnSpc>
              <a:buNone/>
              <a:defRPr sz="2925" b="1">
                <a:solidFill>
                  <a:srgbClr val="282828"/>
                </a:solidFill>
              </a:defRPr>
            </a:pPr>
            <a:r>
              <a:rPr sz="2925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CN7·RG3는 검사 우선순위를 지원합니다.</a:t>
            </a:r>
          </a:p>
          <a:p>
            <a:pPr algn="l">
              <a:lnSpc>
                <a:spcPct val="150000"/>
              </a:lnSpc>
              <a:buNone/>
              <a:defRPr sz="2925" b="1">
                <a:solidFill>
                  <a:srgbClr val="282828"/>
                </a:solidFill>
              </a:defRPr>
            </a:pPr>
            <a:r>
              <a:rPr sz="2925" b="1">
                <a:solidFill>
                  <a:srgbClr val="282828"/>
                </a:solidFill>
                <a:latin typeface="Pretendard Medium"/>
                <a:ea typeface="Pretendard Medium"/>
                <a:cs typeface="Pretendard Medium"/>
              </a:rPr>
              <a:t>내부·미래·사후 평가를 구분하고 기존 품질검사를 유지합니다.</a:t>
            </a:r>
            <a:endParaRPr sz="3000" b="1">
              <a:solidFill>
                <a:srgbClr val="28282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9" name="HL1003"/>
          <p:cNvSpPr>
            <a:spLocks noGrp="1"/>
          </p:cNvSpPr>
          <p:nvPr/>
        </p:nvSpPr>
        <p:spPr>
          <a:xfrm>
            <a:off x="1943662" y="4829175"/>
            <a:ext cx="14400676" cy="0"/>
          </a:xfrm>
          <a:prstGeom prst="line">
            <a:avLst/>
          </a:prstGeom>
          <a:ln w="9525" cap="flat">
            <a:solidFill>
              <a:srgbClr val="9B9B9B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0" name="Tx1004"/>
          <p:cNvSpPr>
            <a:spLocks noGrp="1"/>
          </p:cNvSpPr>
          <p:nvPr/>
        </p:nvSpPr>
        <p:spPr>
          <a:xfrm>
            <a:off x="1943662" y="5029200"/>
            <a:ext cx="3000000" cy="4200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buNone/>
              <a:defRPr/>
            </a:pPr>
            <a:r>
              <a:rPr sz="1900" b="1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현장 적용 요약</a:t>
            </a:r>
          </a:p>
        </p:txBody>
      </p:sp>
      <p:sp>
        <p:nvSpPr>
          <p:cNvPr id="31" name="Rect1005"/>
          <p:cNvSpPr>
            <a:spLocks noGrp="1"/>
          </p:cNvSpPr>
          <p:nvPr/>
        </p:nvSpPr>
        <p:spPr>
          <a:xfrm>
            <a:off x="1943662" y="5562600"/>
            <a:ext cx="6900338" cy="3060382"/>
          </a:xfrm>
          <a:prstGeom prst="rect">
            <a:avLst/>
          </a:prstGeom>
          <a:noFill/>
          <a:ln w="12700">
            <a:solidFill>
              <a:srgbClr val="E3E3E3"/>
            </a:solidFill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2" name="Rect1006"/>
          <p:cNvSpPr>
            <a:spLocks noGrp="1"/>
          </p:cNvSpPr>
          <p:nvPr/>
        </p:nvSpPr>
        <p:spPr>
          <a:xfrm>
            <a:off x="2323662" y="5764600"/>
            <a:ext cx="1150000" cy="560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3" name="Tx1007"/>
          <p:cNvSpPr>
            <a:spLocks noGrp="1"/>
          </p:cNvSpPr>
          <p:nvPr/>
        </p:nvSpPr>
        <p:spPr>
          <a:xfrm>
            <a:off x="2323662" y="5764600"/>
            <a:ext cx="1150000" cy="56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buNone/>
              <a:defRPr/>
            </a:pPr>
            <a:r>
              <a:rPr sz="19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CN7</a:t>
            </a:r>
          </a:p>
        </p:txBody>
      </p:sp>
      <p:sp>
        <p:nvSpPr>
          <p:cNvPr id="34" name="Tx1008"/>
          <p:cNvSpPr>
            <a:spLocks noGrp="1"/>
          </p:cNvSpPr>
          <p:nvPr/>
        </p:nvSpPr>
        <p:spPr>
          <a:xfrm>
            <a:off x="2323662" y="6564400"/>
            <a:ext cx="6140338" cy="47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75" b="0">
                <a:solidFill>
                  <a:srgbClr val="585858"/>
                </a:solidFill>
              </a:defRPr>
            </a:defPPr>
          </a:lstStyle>
          <a:p>
            <a:pPr algn="l"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내부 Group-OOF 0.8164 ± 0.0181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5" name="Tx1009"/>
          <p:cNvSpPr>
            <a:spLocks noGrp="1"/>
          </p:cNvSpPr>
          <p:nvPr/>
        </p:nvSpPr>
        <p:spPr>
          <a:xfrm>
            <a:off x="2323662" y="7064400"/>
            <a:ext cx="6140338" cy="47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75" b="0">
                <a:solidFill>
                  <a:srgbClr val="585858"/>
                </a:solidFill>
              </a:defRPr>
            </a:defPPr>
          </a:lstStyle>
          <a:p>
            <a:pPr algn="l"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P0_OOD 별도 경보 + P1~P4(Risk/UC)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6" name="Tx1010"/>
          <p:cNvSpPr>
            <a:spLocks noGrp="1"/>
          </p:cNvSpPr>
          <p:nvPr/>
        </p:nvSpPr>
        <p:spPr>
          <a:xfrm>
            <a:off x="2323662" y="7564400"/>
            <a:ext cx="6140338" cy="47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75" b="0">
                <a:solidFill>
                  <a:srgbClr val="585858"/>
                </a:solidFill>
              </a:defRPr>
            </a:defPPr>
          </a:lstStyle>
          <a:p>
            <a:pPr algn="l"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OOF 25건(2.06%), Recall 88.24%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7" name="Tx1011"/>
          <p:cNvSpPr>
            <a:spLocks noGrp="1"/>
          </p:cNvSpPr>
          <p:nvPr/>
        </p:nvSpPr>
        <p:spPr>
          <a:xfrm>
            <a:off x="2323662" y="8064400"/>
            <a:ext cx="6140338" cy="47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75" b="0">
                <a:solidFill>
                  <a:srgbClr val="585858"/>
                </a:solidFill>
              </a:defRPr>
            </a:defPPr>
          </a:lstStyle>
          <a:p>
            <a:pPr algn="l"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Precision 60% · E4 OOD 80%, E5 미탐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8" name="Rect1012"/>
          <p:cNvSpPr>
            <a:spLocks noGrp="1"/>
          </p:cNvSpPr>
          <p:nvPr/>
        </p:nvSpPr>
        <p:spPr>
          <a:xfrm>
            <a:off x="9444000" y="5562600"/>
            <a:ext cx="6900338" cy="3060382"/>
          </a:xfrm>
          <a:prstGeom prst="rect">
            <a:avLst/>
          </a:prstGeom>
          <a:noFill/>
          <a:ln w="12700">
            <a:solidFill>
              <a:srgbClr val="E3E3E3"/>
            </a:solidFill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9" name="Rect1013"/>
          <p:cNvSpPr>
            <a:spLocks noGrp="1"/>
          </p:cNvSpPr>
          <p:nvPr/>
        </p:nvSpPr>
        <p:spPr>
          <a:xfrm>
            <a:off x="9824000" y="5764600"/>
            <a:ext cx="1150000" cy="560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txBody>
          <a:bodyPr/>
          <a:lstStyle/>
          <a:p>
            <a:pPr lvl="0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0" name="Tx1014"/>
          <p:cNvSpPr>
            <a:spLocks noGrp="1"/>
          </p:cNvSpPr>
          <p:nvPr/>
        </p:nvSpPr>
        <p:spPr>
          <a:xfrm>
            <a:off x="9824000" y="5764600"/>
            <a:ext cx="1150000" cy="56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buNone/>
              <a:defRPr/>
            </a:pPr>
            <a:r>
              <a:rPr sz="1900" b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RG3</a:t>
            </a:r>
          </a:p>
        </p:txBody>
      </p:sp>
      <p:sp>
        <p:nvSpPr>
          <p:cNvPr id="41" name="Tx1015"/>
          <p:cNvSpPr>
            <a:spLocks noGrp="1"/>
          </p:cNvSpPr>
          <p:nvPr/>
        </p:nvSpPr>
        <p:spPr>
          <a:xfrm>
            <a:off x="9824000" y="6564400"/>
            <a:ext cx="6140338" cy="47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75" b="0">
                <a:solidFill>
                  <a:srgbClr val="585858"/>
                </a:solidFill>
              </a:defRPr>
            </a:defPPr>
          </a:lstStyle>
          <a:p>
            <a:pPr algn="l"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XGBoost + Absolute EWMA5(RH 591건)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2" name="Tx1016"/>
          <p:cNvSpPr>
            <a:spLocks noGrp="1"/>
          </p:cNvSpPr>
          <p:nvPr/>
        </p:nvSpPr>
        <p:spPr>
          <a:xfrm>
            <a:off x="9824000" y="7064400"/>
            <a:ext cx="6140338" cy="47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75" b="0">
                <a:solidFill>
                  <a:srgbClr val="585858"/>
                </a:solidFill>
              </a:defRPr>
            </a:defPPr>
          </a:lstStyle>
          <a:p>
            <a:pPr algn="l"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LH/RH 기존검사 유지 · Risk Ranking 보조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3" name="Tx1017"/>
          <p:cNvSpPr>
            <a:spLocks noGrp="1"/>
          </p:cNvSpPr>
          <p:nvPr/>
        </p:nvSpPr>
        <p:spPr>
          <a:xfrm>
            <a:off x="9824000" y="7564400"/>
            <a:ext cx="6140338" cy="47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75" b="0">
                <a:solidFill>
                  <a:srgbClr val="585858"/>
                </a:solidFill>
              </a:defRPr>
            </a:defPPr>
          </a:lstStyle>
          <a:p>
            <a:pPr algn="l"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Final Holdout 0.0415: 미래 일반화 미확보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4" name="Tx1018"/>
          <p:cNvSpPr>
            <a:spLocks noGrp="1"/>
          </p:cNvSpPr>
          <p:nvPr/>
        </p:nvSpPr>
        <p:spPr>
          <a:xfrm>
            <a:off x="9824000" y="8064400"/>
            <a:ext cx="6140338" cy="470000"/>
          </a:xfrm>
          <a:prstGeom prst="rect">
            <a:avLst/>
          </a:prstGeom>
        </p:spPr>
        <p:txBody>
          <a:bodyPr lIns="0" tIns="0" rIns="0" bIns="0" anchor="t"/>
          <a:lstStyle>
            <a:defPPr algn="l">
              <a:defRPr sz="1875" b="0">
                <a:solidFill>
                  <a:srgbClr val="585858"/>
                </a:solidFill>
              </a:defRPr>
            </a:defPPr>
          </a:lstStyle>
          <a:p>
            <a:pPr algn="l">
              <a:buNone/>
              <a:defRPr sz="1875" b="0">
                <a:solidFill>
                  <a:srgbClr val="585858"/>
                </a:solidFill>
              </a:defRPr>
            </a:pPr>
            <a:r>
              <a:rPr sz="1875" b="0">
                <a:solidFill>
                  <a:srgbClr val="585858"/>
                </a:solidFill>
                <a:latin typeface="Pretendard Medium"/>
                <a:ea typeface="Pretendard Medium"/>
                <a:cs typeface="Pretendard Medium"/>
              </a:rPr>
              <a:t>—  사후 Cycle PR-AUC 0.4124 · Lift 2.06</a:t>
            </a:r>
            <a:endParaRPr sz="2000">
              <a:solidFill>
                <a:srgbClr val="585858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5" name="VL1019"/>
          <p:cNvSpPr>
            <a:spLocks noGrp="1"/>
          </p:cNvSpPr>
          <p:nvPr/>
        </p:nvSpPr>
        <p:spPr>
          <a:xfrm rot="5400000">
            <a:off x="7869000" y="7092791"/>
            <a:ext cx="2550000" cy="0"/>
          </a:xfrm>
          <a:prstGeom prst="line">
            <a:avLst/>
          </a:prstGeom>
          <a:ln w="6350" cap="flat">
            <a:solidFill>
              <a:srgbClr val="E3E3E3"/>
            </a:solidFill>
            <a:prstDash val="solid"/>
          </a:ln>
        </p:spPr>
        <p:txBody>
          <a:bodyPr wrap="square" anchor="ctr"/>
          <a:lstStyle/>
          <a:p>
            <a:pPr algn="ctr">
              <a:buNone/>
              <a:defRPr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6" name="직사각형 45"/>
          <p:cNvSpPr>
            <a:spLocks noGrp="1"/>
          </p:cNvSpPr>
          <p:nvPr/>
        </p:nvSpPr>
        <p:spPr>
          <a:xfrm>
            <a:off x="914396" y="973455"/>
            <a:ext cx="2091693" cy="367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  <a:defRPr/>
            </a:pPr>
            <a:r>
              <a:rPr>
                <a:solidFill>
                  <a:srgbClr val="808080"/>
                </a:solidFill>
                <a:latin typeface="Pretendard Medium"/>
                <a:ea typeface="Pretendard Medium"/>
                <a:cs typeface="Pretendard Medium"/>
              </a:rPr>
              <a:t>05 현장 적용 및 결론</a:t>
            </a:r>
          </a:p>
        </p:txBody>
      </p:sp>
      <p:sp>
        <p:nvSpPr>
          <p:cNvPr id="47" name="검증 범위 및 설명"/>
          <p:cNvSpPr>
            <a:spLocks noGrp="1"/>
          </p:cNvSpPr>
          <p:nvPr/>
        </p:nvSpPr>
        <p:spPr>
          <a:xfrm>
            <a:off x="1943100" y="8839200"/>
            <a:ext cx="14401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282828"/>
                </a:solidFill>
              </a:defRPr>
            </a:defPPr>
          </a:lstStyle>
          <a:p>
            <a:pPr algn="l">
              <a:defRPr sz="1800" b="0">
                <a:solidFill>
                  <a:srgbClr val="282828"/>
                </a:solidFill>
              </a:defRPr>
            </a:pPr>
            <a:r>
              <a:rPr sz="1800" b="0">
                <a:solidFill>
                  <a:srgbClr val="282828"/>
                </a:solidFill>
                <a:latin typeface="Pretendard Medium"/>
                <a:ea typeface="Pretendard Medium"/>
              </a:rPr>
              <a:t>RG3 자동 Drift Detector 미구현 · 공정분포 및 성능 모니터링은 향후 운영 제안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>
            <a:spLocks noGrp="1"/>
          </p:cNvSpPr>
          <p:nvPr/>
        </p:nvSpPr>
        <p:spPr>
          <a:xfrm>
            <a:off x="4824292" y="4349775"/>
            <a:ext cx="8639414" cy="15557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2342"/>
              </a:lnSpc>
              <a:buNone/>
              <a:defRPr/>
            </a:pPr>
            <a:r>
              <a:rPr sz="10826" b="1" spc="-108">
                <a:solidFill>
                  <a:srgbClr val="282828"/>
                </a:solidFill>
                <a:latin typeface="Pretendard SemiBold"/>
                <a:ea typeface="Pretendard SemiBold"/>
                <a:cs typeface="Pretendard SemiBold"/>
              </a:rPr>
              <a:t>감사합니다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2579</Words>
  <Application>Microsoft Office PowerPoint</Application>
  <PresentationFormat>사용자 지정</PresentationFormat>
  <Paragraphs>383</Paragraphs>
  <Slides>22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Pretendard Light</vt:lpstr>
      <vt:lpstr>Arial</vt:lpstr>
      <vt:lpstr>Pretendard SemiBold</vt:lpstr>
      <vt:lpstr>Pretendard</vt:lpstr>
      <vt:lpstr>Pretendard Medium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효원 안</cp:lastModifiedBy>
  <cp:revision>13</cp:revision>
  <dcterms:modified xsi:type="dcterms:W3CDTF">2026-10-08T09:10:16Z</dcterms:modified>
  <cp:version/>
</cp:coreProperties>
</file>